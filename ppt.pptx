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50" b="0" i="0">
                <a:solidFill>
                  <a:srgbClr val="F5EFEF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39192" y="7749538"/>
            <a:ext cx="1722627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1103" y="2156282"/>
            <a:ext cx="12998450" cy="765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7234" y="1283665"/>
            <a:ext cx="6635750" cy="2352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50" b="0" i="0">
                <a:solidFill>
                  <a:srgbClr val="F5EFEF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1"/>
            <a:ext cx="9864090" cy="8229600"/>
            <a:chOff x="0" y="-1"/>
            <a:chExt cx="9864090" cy="8229600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0" y="-1"/>
              <a:ext cx="5486399" cy="82295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73624" y="0"/>
              <a:ext cx="4490466" cy="121234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5"/>
              </a:spcBef>
            </a:pPr>
            <a:r>
              <a:rPr spc="325" dirty="0"/>
              <a:t>Secure</a:t>
            </a:r>
            <a:r>
              <a:rPr spc="80" dirty="0"/>
              <a:t> </a:t>
            </a:r>
            <a:r>
              <a:rPr spc="380" dirty="0"/>
              <a:t>Hotel</a:t>
            </a:r>
            <a:r>
              <a:rPr spc="95" dirty="0"/>
              <a:t> </a:t>
            </a:r>
            <a:r>
              <a:rPr spc="325" dirty="0"/>
              <a:t>Network </a:t>
            </a:r>
            <a:r>
              <a:rPr spc="400" dirty="0"/>
              <a:t>Design</a:t>
            </a:r>
            <a:r>
              <a:rPr spc="80" dirty="0"/>
              <a:t> </a:t>
            </a:r>
            <a:r>
              <a:rPr spc="345" dirty="0"/>
              <a:t>with</a:t>
            </a:r>
            <a:r>
              <a:rPr spc="80" dirty="0"/>
              <a:t> </a:t>
            </a:r>
            <a:r>
              <a:rPr spc="335" dirty="0"/>
              <a:t>Cisco </a:t>
            </a:r>
            <a:r>
              <a:rPr spc="340" dirty="0"/>
              <a:t>Packet</a:t>
            </a:r>
            <a:r>
              <a:rPr spc="120" dirty="0"/>
              <a:t> </a:t>
            </a:r>
            <a:r>
              <a:rPr spc="285" dirty="0"/>
              <a:t>Tracer</a:t>
            </a:r>
            <a:endParaRPr spc="285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58142" y="6024371"/>
            <a:ext cx="2572257" cy="22052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736463" y="3764407"/>
            <a:ext cx="2277110" cy="88519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8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Course:</a:t>
            </a:r>
            <a:r>
              <a:rPr sz="18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ISCPS</a:t>
            </a:r>
            <a:endParaRPr sz="18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sz="18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Prof:</a:t>
            </a:r>
            <a:r>
              <a:rPr sz="180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Vaibhav</a:t>
            </a:r>
            <a:r>
              <a:rPr sz="180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Gijare</a:t>
            </a:r>
            <a:endParaRPr sz="18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91454" y="5486527"/>
            <a:ext cx="2780665" cy="1205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000"/>
              </a:lnSpc>
              <a:spcBef>
                <a:spcPts val="100"/>
              </a:spcBef>
            </a:pPr>
            <a:r>
              <a:rPr sz="1800" spc="1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Name:</a:t>
            </a:r>
            <a:r>
              <a:rPr sz="1800" spc="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Rushikesh</a:t>
            </a:r>
            <a:r>
              <a:rPr sz="180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Sabale </a:t>
            </a:r>
            <a:r>
              <a:rPr sz="1800" spc="1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PRN:</a:t>
            </a:r>
            <a:r>
              <a:rPr sz="18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202201070107</a:t>
            </a:r>
            <a:r>
              <a:rPr sz="1800" spc="5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DIV:</a:t>
            </a:r>
            <a:r>
              <a:rPr sz="18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8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B2</a:t>
            </a:r>
            <a:endParaRPr sz="18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18903" y="146050"/>
            <a:ext cx="3838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Department</a:t>
            </a:r>
            <a:r>
              <a:rPr sz="180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Of</a:t>
            </a:r>
            <a:r>
              <a:rPr sz="1800" spc="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1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ENTC</a:t>
            </a:r>
            <a:r>
              <a:rPr sz="18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8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Engineering</a:t>
            </a:r>
            <a:endParaRPr sz="18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-25"/>
            <a:ext cx="5486400" cy="8230234"/>
            <a:chOff x="9144000" y="-25"/>
            <a:chExt cx="5486400" cy="8230234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44000" y="-1"/>
              <a:ext cx="5486400" cy="82295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055857" y="-25"/>
              <a:ext cx="3574542" cy="119039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57224" y="668527"/>
            <a:ext cx="597154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295" dirty="0"/>
              <a:t>Network</a:t>
            </a:r>
            <a:r>
              <a:rPr sz="4300" spc="110" dirty="0"/>
              <a:t> </a:t>
            </a:r>
            <a:r>
              <a:rPr sz="4300" spc="330" dirty="0"/>
              <a:t>Design</a:t>
            </a:r>
            <a:r>
              <a:rPr sz="4300" spc="125" dirty="0"/>
              <a:t> </a:t>
            </a:r>
            <a:r>
              <a:rPr sz="4300" spc="330" dirty="0"/>
              <a:t>Goals</a:t>
            </a:r>
            <a:endParaRPr sz="4300"/>
          </a:p>
        </p:txBody>
      </p:sp>
      <p:grpSp>
        <p:nvGrpSpPr>
          <p:cNvPr id="6" name="object 6"/>
          <p:cNvGrpSpPr/>
          <p:nvPr/>
        </p:nvGrpSpPr>
        <p:grpSpPr>
          <a:xfrm>
            <a:off x="765924" y="1724786"/>
            <a:ext cx="7612380" cy="1290320"/>
            <a:chOff x="765924" y="1724786"/>
            <a:chExt cx="7612380" cy="1290320"/>
          </a:xfrm>
        </p:grpSpPr>
        <p:sp>
          <p:nvSpPr>
            <p:cNvPr id="7" name="object 7"/>
            <p:cNvSpPr/>
            <p:nvPr/>
          </p:nvSpPr>
          <p:spPr>
            <a:xfrm>
              <a:off x="769734" y="1728596"/>
              <a:ext cx="7604759" cy="1282700"/>
            </a:xfrm>
            <a:custGeom>
              <a:avLst/>
              <a:gdLst/>
              <a:ahLst/>
              <a:cxnLst/>
              <a:rect l="l" t="t" r="r" b="b"/>
              <a:pathLst>
                <a:path w="7604759" h="1282700">
                  <a:moveTo>
                    <a:pt x="7512189" y="0"/>
                  </a:moveTo>
                  <a:lnTo>
                    <a:pt x="92379" y="0"/>
                  </a:lnTo>
                  <a:lnTo>
                    <a:pt x="56423" y="7246"/>
                  </a:lnTo>
                  <a:lnTo>
                    <a:pt x="27058" y="27019"/>
                  </a:lnTo>
                  <a:lnTo>
                    <a:pt x="7260" y="56364"/>
                  </a:lnTo>
                  <a:lnTo>
                    <a:pt x="0" y="92328"/>
                  </a:lnTo>
                  <a:lnTo>
                    <a:pt x="0" y="1189989"/>
                  </a:lnTo>
                  <a:lnTo>
                    <a:pt x="7260" y="1225954"/>
                  </a:lnTo>
                  <a:lnTo>
                    <a:pt x="27058" y="1255299"/>
                  </a:lnTo>
                  <a:lnTo>
                    <a:pt x="56423" y="1275072"/>
                  </a:lnTo>
                  <a:lnTo>
                    <a:pt x="92379" y="1282318"/>
                  </a:lnTo>
                  <a:lnTo>
                    <a:pt x="7512189" y="1282318"/>
                  </a:lnTo>
                  <a:lnTo>
                    <a:pt x="7548100" y="1275072"/>
                  </a:lnTo>
                  <a:lnTo>
                    <a:pt x="7577451" y="1255299"/>
                  </a:lnTo>
                  <a:lnTo>
                    <a:pt x="7597253" y="1225954"/>
                  </a:lnTo>
                  <a:lnTo>
                    <a:pt x="7604518" y="1189989"/>
                  </a:lnTo>
                  <a:lnTo>
                    <a:pt x="7604518" y="92328"/>
                  </a:lnTo>
                  <a:lnTo>
                    <a:pt x="7597253" y="56364"/>
                  </a:lnTo>
                  <a:lnTo>
                    <a:pt x="7577451" y="27019"/>
                  </a:lnTo>
                  <a:lnTo>
                    <a:pt x="7548100" y="7246"/>
                  </a:lnTo>
                  <a:lnTo>
                    <a:pt x="7512189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69734" y="1728596"/>
              <a:ext cx="7604759" cy="1282700"/>
            </a:xfrm>
            <a:custGeom>
              <a:avLst/>
              <a:gdLst/>
              <a:ahLst/>
              <a:cxnLst/>
              <a:rect l="l" t="t" r="r" b="b"/>
              <a:pathLst>
                <a:path w="7604759" h="1282700">
                  <a:moveTo>
                    <a:pt x="0" y="92328"/>
                  </a:moveTo>
                  <a:lnTo>
                    <a:pt x="7260" y="56364"/>
                  </a:lnTo>
                  <a:lnTo>
                    <a:pt x="27058" y="27019"/>
                  </a:lnTo>
                  <a:lnTo>
                    <a:pt x="56423" y="7246"/>
                  </a:lnTo>
                  <a:lnTo>
                    <a:pt x="92379" y="0"/>
                  </a:lnTo>
                  <a:lnTo>
                    <a:pt x="7512189" y="0"/>
                  </a:lnTo>
                  <a:lnTo>
                    <a:pt x="7548100" y="7246"/>
                  </a:lnTo>
                  <a:lnTo>
                    <a:pt x="7577451" y="27019"/>
                  </a:lnTo>
                  <a:lnTo>
                    <a:pt x="7597253" y="56364"/>
                  </a:lnTo>
                  <a:lnTo>
                    <a:pt x="7604518" y="92328"/>
                  </a:lnTo>
                  <a:lnTo>
                    <a:pt x="7604518" y="1189989"/>
                  </a:lnTo>
                  <a:lnTo>
                    <a:pt x="7597253" y="1225954"/>
                  </a:lnTo>
                  <a:lnTo>
                    <a:pt x="7577451" y="1255299"/>
                  </a:lnTo>
                  <a:lnTo>
                    <a:pt x="7548100" y="1275072"/>
                  </a:lnTo>
                  <a:lnTo>
                    <a:pt x="7512189" y="1282318"/>
                  </a:lnTo>
                  <a:lnTo>
                    <a:pt x="92379" y="1282318"/>
                  </a:lnTo>
                  <a:lnTo>
                    <a:pt x="56423" y="1275072"/>
                  </a:lnTo>
                  <a:lnTo>
                    <a:pt x="27058" y="1255299"/>
                  </a:lnTo>
                  <a:lnTo>
                    <a:pt x="7260" y="1225954"/>
                  </a:lnTo>
                  <a:lnTo>
                    <a:pt x="0" y="1189989"/>
                  </a:lnTo>
                  <a:lnTo>
                    <a:pt x="0" y="92328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84605" y="1928622"/>
            <a:ext cx="6737350" cy="8267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17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Segmentation</a:t>
            </a:r>
            <a:endParaRPr sz="21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sz="17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Use</a:t>
            </a:r>
            <a:r>
              <a:rPr sz="17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VLANs</a:t>
            </a:r>
            <a:r>
              <a:rPr sz="17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70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separate</a:t>
            </a:r>
            <a:r>
              <a:rPr sz="1700" spc="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guest,</a:t>
            </a:r>
            <a:r>
              <a:rPr sz="170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staff,</a:t>
            </a:r>
            <a:r>
              <a:rPr sz="1700" spc="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70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management</a:t>
            </a:r>
            <a:r>
              <a:rPr sz="17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networks.</a:t>
            </a:r>
            <a:endParaRPr sz="170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5924" y="3227070"/>
            <a:ext cx="7612380" cy="1290320"/>
            <a:chOff x="765924" y="3227070"/>
            <a:chExt cx="7612380" cy="1290320"/>
          </a:xfrm>
        </p:grpSpPr>
        <p:sp>
          <p:nvSpPr>
            <p:cNvPr id="11" name="object 11"/>
            <p:cNvSpPr/>
            <p:nvPr/>
          </p:nvSpPr>
          <p:spPr>
            <a:xfrm>
              <a:off x="769734" y="3230880"/>
              <a:ext cx="7604759" cy="1282700"/>
            </a:xfrm>
            <a:custGeom>
              <a:avLst/>
              <a:gdLst/>
              <a:ahLst/>
              <a:cxnLst/>
              <a:rect l="l" t="t" r="r" b="b"/>
              <a:pathLst>
                <a:path w="7604759" h="1282700">
                  <a:moveTo>
                    <a:pt x="7512189" y="0"/>
                  </a:moveTo>
                  <a:lnTo>
                    <a:pt x="92379" y="0"/>
                  </a:lnTo>
                  <a:lnTo>
                    <a:pt x="56423" y="7264"/>
                  </a:lnTo>
                  <a:lnTo>
                    <a:pt x="27058" y="27066"/>
                  </a:lnTo>
                  <a:lnTo>
                    <a:pt x="7260" y="56417"/>
                  </a:lnTo>
                  <a:lnTo>
                    <a:pt x="0" y="92329"/>
                  </a:lnTo>
                  <a:lnTo>
                    <a:pt x="0" y="1189990"/>
                  </a:lnTo>
                  <a:lnTo>
                    <a:pt x="7260" y="1225974"/>
                  </a:lnTo>
                  <a:lnTo>
                    <a:pt x="27058" y="1255363"/>
                  </a:lnTo>
                  <a:lnTo>
                    <a:pt x="56423" y="1275179"/>
                  </a:lnTo>
                  <a:lnTo>
                    <a:pt x="92379" y="1282446"/>
                  </a:lnTo>
                  <a:lnTo>
                    <a:pt x="7512189" y="1282446"/>
                  </a:lnTo>
                  <a:lnTo>
                    <a:pt x="7548100" y="1275179"/>
                  </a:lnTo>
                  <a:lnTo>
                    <a:pt x="7577451" y="1255363"/>
                  </a:lnTo>
                  <a:lnTo>
                    <a:pt x="7597253" y="1225974"/>
                  </a:lnTo>
                  <a:lnTo>
                    <a:pt x="7604518" y="1189990"/>
                  </a:lnTo>
                  <a:lnTo>
                    <a:pt x="7604518" y="92329"/>
                  </a:lnTo>
                  <a:lnTo>
                    <a:pt x="7597253" y="56417"/>
                  </a:lnTo>
                  <a:lnTo>
                    <a:pt x="7577451" y="27066"/>
                  </a:lnTo>
                  <a:lnTo>
                    <a:pt x="7548100" y="7264"/>
                  </a:lnTo>
                  <a:lnTo>
                    <a:pt x="7512189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69734" y="3230880"/>
              <a:ext cx="7604759" cy="1282700"/>
            </a:xfrm>
            <a:custGeom>
              <a:avLst/>
              <a:gdLst/>
              <a:ahLst/>
              <a:cxnLst/>
              <a:rect l="l" t="t" r="r" b="b"/>
              <a:pathLst>
                <a:path w="7604759" h="1282700">
                  <a:moveTo>
                    <a:pt x="0" y="92329"/>
                  </a:moveTo>
                  <a:lnTo>
                    <a:pt x="7260" y="56417"/>
                  </a:lnTo>
                  <a:lnTo>
                    <a:pt x="27058" y="27066"/>
                  </a:lnTo>
                  <a:lnTo>
                    <a:pt x="56423" y="7264"/>
                  </a:lnTo>
                  <a:lnTo>
                    <a:pt x="92379" y="0"/>
                  </a:lnTo>
                  <a:lnTo>
                    <a:pt x="7512189" y="0"/>
                  </a:lnTo>
                  <a:lnTo>
                    <a:pt x="7548100" y="7264"/>
                  </a:lnTo>
                  <a:lnTo>
                    <a:pt x="7577451" y="27066"/>
                  </a:lnTo>
                  <a:lnTo>
                    <a:pt x="7597253" y="56417"/>
                  </a:lnTo>
                  <a:lnTo>
                    <a:pt x="7604518" y="92329"/>
                  </a:lnTo>
                  <a:lnTo>
                    <a:pt x="7604518" y="1189990"/>
                  </a:lnTo>
                  <a:lnTo>
                    <a:pt x="7597253" y="1225974"/>
                  </a:lnTo>
                  <a:lnTo>
                    <a:pt x="7577451" y="1255363"/>
                  </a:lnTo>
                  <a:lnTo>
                    <a:pt x="7548100" y="1275179"/>
                  </a:lnTo>
                  <a:lnTo>
                    <a:pt x="7512189" y="1282446"/>
                  </a:lnTo>
                  <a:lnTo>
                    <a:pt x="92379" y="1282446"/>
                  </a:lnTo>
                  <a:lnTo>
                    <a:pt x="56423" y="1275179"/>
                  </a:lnTo>
                  <a:lnTo>
                    <a:pt x="27058" y="1255363"/>
                  </a:lnTo>
                  <a:lnTo>
                    <a:pt x="7260" y="1225974"/>
                  </a:lnTo>
                  <a:lnTo>
                    <a:pt x="0" y="1189990"/>
                  </a:lnTo>
                  <a:lnTo>
                    <a:pt x="0" y="92329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84605" y="3431285"/>
            <a:ext cx="6971665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Security</a:t>
            </a:r>
            <a:endParaRPr sz="21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sz="17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Deploy</a:t>
            </a:r>
            <a:r>
              <a:rPr sz="170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firewalls,</a:t>
            </a:r>
            <a:r>
              <a:rPr sz="17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encryption,</a:t>
            </a:r>
            <a:r>
              <a:rPr sz="170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strong</a:t>
            </a:r>
            <a:r>
              <a:rPr sz="17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authentication</a:t>
            </a:r>
            <a:r>
              <a:rPr sz="1700" spc="-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methods.</a:t>
            </a:r>
            <a:endParaRPr sz="170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5924" y="4729353"/>
            <a:ext cx="7612380" cy="1290320"/>
            <a:chOff x="765924" y="4729353"/>
            <a:chExt cx="7612380" cy="1290320"/>
          </a:xfrm>
        </p:grpSpPr>
        <p:sp>
          <p:nvSpPr>
            <p:cNvPr id="15" name="object 15"/>
            <p:cNvSpPr/>
            <p:nvPr/>
          </p:nvSpPr>
          <p:spPr>
            <a:xfrm>
              <a:off x="769734" y="4733163"/>
              <a:ext cx="7604759" cy="1282700"/>
            </a:xfrm>
            <a:custGeom>
              <a:avLst/>
              <a:gdLst/>
              <a:ahLst/>
              <a:cxnLst/>
              <a:rect l="l" t="t" r="r" b="b"/>
              <a:pathLst>
                <a:path w="7604759" h="1282700">
                  <a:moveTo>
                    <a:pt x="7512189" y="0"/>
                  </a:moveTo>
                  <a:lnTo>
                    <a:pt x="92379" y="0"/>
                  </a:lnTo>
                  <a:lnTo>
                    <a:pt x="56423" y="7266"/>
                  </a:lnTo>
                  <a:lnTo>
                    <a:pt x="27058" y="27082"/>
                  </a:lnTo>
                  <a:lnTo>
                    <a:pt x="7260" y="56471"/>
                  </a:lnTo>
                  <a:lnTo>
                    <a:pt x="0" y="92456"/>
                  </a:lnTo>
                  <a:lnTo>
                    <a:pt x="0" y="1190117"/>
                  </a:lnTo>
                  <a:lnTo>
                    <a:pt x="7260" y="1226081"/>
                  </a:lnTo>
                  <a:lnTo>
                    <a:pt x="27058" y="1255426"/>
                  </a:lnTo>
                  <a:lnTo>
                    <a:pt x="56423" y="1275199"/>
                  </a:lnTo>
                  <a:lnTo>
                    <a:pt x="92379" y="1282445"/>
                  </a:lnTo>
                  <a:lnTo>
                    <a:pt x="7512189" y="1282445"/>
                  </a:lnTo>
                  <a:lnTo>
                    <a:pt x="7548100" y="1275199"/>
                  </a:lnTo>
                  <a:lnTo>
                    <a:pt x="7577451" y="1255426"/>
                  </a:lnTo>
                  <a:lnTo>
                    <a:pt x="7597253" y="1226081"/>
                  </a:lnTo>
                  <a:lnTo>
                    <a:pt x="7604518" y="1190117"/>
                  </a:lnTo>
                  <a:lnTo>
                    <a:pt x="7604518" y="92456"/>
                  </a:lnTo>
                  <a:lnTo>
                    <a:pt x="7597253" y="56471"/>
                  </a:lnTo>
                  <a:lnTo>
                    <a:pt x="7577451" y="27082"/>
                  </a:lnTo>
                  <a:lnTo>
                    <a:pt x="7548100" y="7266"/>
                  </a:lnTo>
                  <a:lnTo>
                    <a:pt x="7512189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69734" y="4733163"/>
              <a:ext cx="7604759" cy="1282700"/>
            </a:xfrm>
            <a:custGeom>
              <a:avLst/>
              <a:gdLst/>
              <a:ahLst/>
              <a:cxnLst/>
              <a:rect l="l" t="t" r="r" b="b"/>
              <a:pathLst>
                <a:path w="7604759" h="1282700">
                  <a:moveTo>
                    <a:pt x="0" y="92456"/>
                  </a:moveTo>
                  <a:lnTo>
                    <a:pt x="7260" y="56471"/>
                  </a:lnTo>
                  <a:lnTo>
                    <a:pt x="27058" y="27082"/>
                  </a:lnTo>
                  <a:lnTo>
                    <a:pt x="56423" y="7266"/>
                  </a:lnTo>
                  <a:lnTo>
                    <a:pt x="92379" y="0"/>
                  </a:lnTo>
                  <a:lnTo>
                    <a:pt x="7512189" y="0"/>
                  </a:lnTo>
                  <a:lnTo>
                    <a:pt x="7548100" y="7266"/>
                  </a:lnTo>
                  <a:lnTo>
                    <a:pt x="7577451" y="27082"/>
                  </a:lnTo>
                  <a:lnTo>
                    <a:pt x="7597253" y="56471"/>
                  </a:lnTo>
                  <a:lnTo>
                    <a:pt x="7604518" y="92456"/>
                  </a:lnTo>
                  <a:lnTo>
                    <a:pt x="7604518" y="1190117"/>
                  </a:lnTo>
                  <a:lnTo>
                    <a:pt x="7597253" y="1226081"/>
                  </a:lnTo>
                  <a:lnTo>
                    <a:pt x="7577451" y="1255426"/>
                  </a:lnTo>
                  <a:lnTo>
                    <a:pt x="7548100" y="1275199"/>
                  </a:lnTo>
                  <a:lnTo>
                    <a:pt x="7512189" y="1282445"/>
                  </a:lnTo>
                  <a:lnTo>
                    <a:pt x="92379" y="1282445"/>
                  </a:lnTo>
                  <a:lnTo>
                    <a:pt x="56423" y="1275199"/>
                  </a:lnTo>
                  <a:lnTo>
                    <a:pt x="27058" y="1255426"/>
                  </a:lnTo>
                  <a:lnTo>
                    <a:pt x="7260" y="1226081"/>
                  </a:lnTo>
                  <a:lnTo>
                    <a:pt x="0" y="1190117"/>
                  </a:lnTo>
                  <a:lnTo>
                    <a:pt x="0" y="92456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84605" y="4933950"/>
            <a:ext cx="4758690" cy="826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Accessibility</a:t>
            </a:r>
            <a:endParaRPr sz="21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sz="17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Provide</a:t>
            </a:r>
            <a:r>
              <a:rPr sz="170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stable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secure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2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Wi-</a:t>
            </a:r>
            <a:r>
              <a:rPr sz="17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Fi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all</a:t>
            </a:r>
            <a:r>
              <a:rPr sz="170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users.</a:t>
            </a:r>
            <a:endParaRPr sz="170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5924" y="6231763"/>
            <a:ext cx="7612380" cy="1290320"/>
            <a:chOff x="765924" y="6231763"/>
            <a:chExt cx="7612380" cy="1290320"/>
          </a:xfrm>
        </p:grpSpPr>
        <p:sp>
          <p:nvSpPr>
            <p:cNvPr id="19" name="object 19"/>
            <p:cNvSpPr/>
            <p:nvPr/>
          </p:nvSpPr>
          <p:spPr>
            <a:xfrm>
              <a:off x="769734" y="6235573"/>
              <a:ext cx="7604759" cy="1282700"/>
            </a:xfrm>
            <a:custGeom>
              <a:avLst/>
              <a:gdLst/>
              <a:ahLst/>
              <a:cxnLst/>
              <a:rect l="l" t="t" r="r" b="b"/>
              <a:pathLst>
                <a:path w="7604759" h="1282700">
                  <a:moveTo>
                    <a:pt x="7512189" y="0"/>
                  </a:moveTo>
                  <a:lnTo>
                    <a:pt x="92379" y="0"/>
                  </a:lnTo>
                  <a:lnTo>
                    <a:pt x="56423" y="7246"/>
                  </a:lnTo>
                  <a:lnTo>
                    <a:pt x="27058" y="27019"/>
                  </a:lnTo>
                  <a:lnTo>
                    <a:pt x="7260" y="56364"/>
                  </a:lnTo>
                  <a:lnTo>
                    <a:pt x="0" y="92328"/>
                  </a:lnTo>
                  <a:lnTo>
                    <a:pt x="0" y="1190015"/>
                  </a:lnTo>
                  <a:lnTo>
                    <a:pt x="7260" y="1225972"/>
                  </a:lnTo>
                  <a:lnTo>
                    <a:pt x="27058" y="1255336"/>
                  </a:lnTo>
                  <a:lnTo>
                    <a:pt x="56423" y="1275134"/>
                  </a:lnTo>
                  <a:lnTo>
                    <a:pt x="92379" y="1282395"/>
                  </a:lnTo>
                  <a:lnTo>
                    <a:pt x="7512189" y="1282395"/>
                  </a:lnTo>
                  <a:lnTo>
                    <a:pt x="7548100" y="1275134"/>
                  </a:lnTo>
                  <a:lnTo>
                    <a:pt x="7577451" y="1255336"/>
                  </a:lnTo>
                  <a:lnTo>
                    <a:pt x="7597253" y="1225972"/>
                  </a:lnTo>
                  <a:lnTo>
                    <a:pt x="7604518" y="1190015"/>
                  </a:lnTo>
                  <a:lnTo>
                    <a:pt x="7604518" y="92328"/>
                  </a:lnTo>
                  <a:lnTo>
                    <a:pt x="7597253" y="56364"/>
                  </a:lnTo>
                  <a:lnTo>
                    <a:pt x="7577451" y="27019"/>
                  </a:lnTo>
                  <a:lnTo>
                    <a:pt x="7548100" y="7246"/>
                  </a:lnTo>
                  <a:lnTo>
                    <a:pt x="7512189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69734" y="6235573"/>
              <a:ext cx="7604759" cy="1282700"/>
            </a:xfrm>
            <a:custGeom>
              <a:avLst/>
              <a:gdLst/>
              <a:ahLst/>
              <a:cxnLst/>
              <a:rect l="l" t="t" r="r" b="b"/>
              <a:pathLst>
                <a:path w="7604759" h="1282700">
                  <a:moveTo>
                    <a:pt x="0" y="92328"/>
                  </a:moveTo>
                  <a:lnTo>
                    <a:pt x="7260" y="56364"/>
                  </a:lnTo>
                  <a:lnTo>
                    <a:pt x="27058" y="27019"/>
                  </a:lnTo>
                  <a:lnTo>
                    <a:pt x="56423" y="7246"/>
                  </a:lnTo>
                  <a:lnTo>
                    <a:pt x="92379" y="0"/>
                  </a:lnTo>
                  <a:lnTo>
                    <a:pt x="7512189" y="0"/>
                  </a:lnTo>
                  <a:lnTo>
                    <a:pt x="7548100" y="7246"/>
                  </a:lnTo>
                  <a:lnTo>
                    <a:pt x="7577451" y="27019"/>
                  </a:lnTo>
                  <a:lnTo>
                    <a:pt x="7597253" y="56364"/>
                  </a:lnTo>
                  <a:lnTo>
                    <a:pt x="7604518" y="92328"/>
                  </a:lnTo>
                  <a:lnTo>
                    <a:pt x="7604518" y="1190015"/>
                  </a:lnTo>
                  <a:lnTo>
                    <a:pt x="7597253" y="1225972"/>
                  </a:lnTo>
                  <a:lnTo>
                    <a:pt x="7577451" y="1255336"/>
                  </a:lnTo>
                  <a:lnTo>
                    <a:pt x="7548100" y="1275134"/>
                  </a:lnTo>
                  <a:lnTo>
                    <a:pt x="7512189" y="1282395"/>
                  </a:lnTo>
                  <a:lnTo>
                    <a:pt x="92379" y="1282395"/>
                  </a:lnTo>
                  <a:lnTo>
                    <a:pt x="56423" y="1275134"/>
                  </a:lnTo>
                  <a:lnTo>
                    <a:pt x="27058" y="1255336"/>
                  </a:lnTo>
                  <a:lnTo>
                    <a:pt x="7260" y="1225972"/>
                  </a:lnTo>
                  <a:lnTo>
                    <a:pt x="0" y="1190015"/>
                  </a:lnTo>
                  <a:lnTo>
                    <a:pt x="0" y="92328"/>
                  </a:lnTo>
                  <a:close/>
                </a:path>
              </a:pathLst>
            </a:custGeom>
            <a:ln w="761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984605" y="6435928"/>
            <a:ext cx="5014595" cy="8267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Efficiency</a:t>
            </a:r>
            <a:endParaRPr sz="21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90"/>
              </a:spcBef>
            </a:pP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Optimize</a:t>
            </a:r>
            <a:r>
              <a:rPr sz="170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bandwidth</a:t>
            </a:r>
            <a:r>
              <a:rPr sz="170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while</a:t>
            </a:r>
            <a:r>
              <a:rPr sz="17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minimizing</a:t>
            </a:r>
            <a:r>
              <a:rPr sz="170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latency.</a:t>
            </a:r>
            <a:endParaRPr sz="17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1520678" y="6722998"/>
            <a:ext cx="3109722" cy="1506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35" dirty="0"/>
              <a:t>Network</a:t>
            </a:r>
            <a:r>
              <a:rPr spc="100" dirty="0"/>
              <a:t> </a:t>
            </a:r>
            <a:r>
              <a:rPr spc="305" dirty="0"/>
              <a:t>Architecture</a:t>
            </a:r>
            <a:r>
              <a:rPr spc="95" dirty="0"/>
              <a:t> </a:t>
            </a:r>
            <a:r>
              <a:rPr spc="385" dirty="0"/>
              <a:t>and</a:t>
            </a:r>
            <a:r>
              <a:rPr spc="105" dirty="0"/>
              <a:t> </a:t>
            </a:r>
            <a:r>
              <a:rPr spc="395" dirty="0"/>
              <a:t>Implementation</a:t>
            </a:r>
            <a:endParaRPr spc="395" dirty="0"/>
          </a:p>
        </p:txBody>
      </p:sp>
      <p:sp>
        <p:nvSpPr>
          <p:cNvPr id="4" name="object 4"/>
          <p:cNvSpPr txBox="1"/>
          <p:nvPr/>
        </p:nvSpPr>
        <p:spPr>
          <a:xfrm>
            <a:off x="851103" y="3561969"/>
            <a:ext cx="2743835" cy="180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04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VLAN</a:t>
            </a:r>
            <a:r>
              <a:rPr sz="2400" spc="45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spc="165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Setup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6000"/>
              </a:lnSpc>
              <a:spcBef>
                <a:spcPts val="1855"/>
              </a:spcBef>
            </a:pPr>
            <a:r>
              <a:rPr sz="19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Configured</a:t>
            </a:r>
            <a:r>
              <a:rPr sz="190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VLAN</a:t>
            </a:r>
            <a:r>
              <a:rPr sz="1900" spc="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-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10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9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guests,</a:t>
            </a:r>
            <a:r>
              <a:rPr sz="1900" spc="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20</a:t>
            </a:r>
            <a:r>
              <a:rPr sz="1900" spc="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9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staff, </a:t>
            </a:r>
            <a:r>
              <a:rPr sz="1900" spc="8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30</a:t>
            </a:r>
            <a:r>
              <a:rPr sz="19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9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management.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35322" y="3561969"/>
            <a:ext cx="2614295" cy="180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90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IP</a:t>
            </a:r>
            <a:r>
              <a:rPr sz="2400" spc="45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spc="150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Addressing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6000"/>
              </a:lnSpc>
              <a:spcBef>
                <a:spcPts val="1855"/>
              </a:spcBef>
            </a:pPr>
            <a:r>
              <a:rPr sz="1900" spc="18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DHCP</a:t>
            </a:r>
            <a:r>
              <a:rPr sz="19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9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server </a:t>
            </a:r>
            <a:r>
              <a:rPr sz="19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automatically</a:t>
            </a:r>
            <a:r>
              <a:rPr sz="190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assigns </a:t>
            </a:r>
            <a:r>
              <a:rPr sz="190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IPs</a:t>
            </a:r>
            <a:r>
              <a:rPr sz="1900" spc="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across</a:t>
            </a:r>
            <a:r>
              <a:rPr sz="1900" spc="7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VLANs.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9492" y="3561969"/>
            <a:ext cx="2381885" cy="2201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Wireless</a:t>
            </a:r>
            <a:r>
              <a:rPr sz="2400" spc="55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spc="150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Access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 marR="346710">
              <a:lnSpc>
                <a:spcPct val="136000"/>
              </a:lnSpc>
              <a:spcBef>
                <a:spcPts val="1850"/>
              </a:spcBef>
            </a:pP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Secure</a:t>
            </a:r>
            <a:r>
              <a:rPr sz="1900" spc="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WPA2/3- Enterprise </a:t>
            </a:r>
            <a:r>
              <a:rPr sz="1900" spc="27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Wi-</a:t>
            </a:r>
            <a:r>
              <a:rPr sz="1900" spc="9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Fi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ensures</a:t>
            </a:r>
            <a:r>
              <a:rPr sz="1900" spc="8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robust </a:t>
            </a:r>
            <a:r>
              <a:rPr sz="19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connectivity.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03660" y="3561969"/>
            <a:ext cx="2692400" cy="1806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80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Routing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6000"/>
              </a:lnSpc>
              <a:spcBef>
                <a:spcPts val="1855"/>
              </a:spcBef>
            </a:pPr>
            <a:r>
              <a:rPr sz="19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Layer</a:t>
            </a:r>
            <a:r>
              <a:rPr sz="19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3</a:t>
            </a:r>
            <a:r>
              <a:rPr sz="190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switch</a:t>
            </a:r>
            <a:r>
              <a:rPr sz="1900" spc="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enables </a:t>
            </a:r>
            <a:r>
              <a:rPr sz="1900" spc="19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inter-</a:t>
            </a:r>
            <a:r>
              <a:rPr sz="190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VLAN</a:t>
            </a:r>
            <a:r>
              <a:rPr sz="1900" spc="7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routing </a:t>
            </a:r>
            <a:r>
              <a:rPr sz="19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effectively.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4630399" cy="281190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4598" y="3383407"/>
            <a:ext cx="50723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285" dirty="0"/>
              <a:t>Security</a:t>
            </a:r>
            <a:r>
              <a:rPr sz="4400" spc="80" dirty="0"/>
              <a:t> </a:t>
            </a:r>
            <a:r>
              <a:rPr sz="4400" spc="325" dirty="0"/>
              <a:t>Measures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783551" y="4720082"/>
            <a:ext cx="514350" cy="514350"/>
            <a:chOff x="783551" y="4720082"/>
            <a:chExt cx="514350" cy="514350"/>
          </a:xfrm>
        </p:grpSpPr>
        <p:sp>
          <p:nvSpPr>
            <p:cNvPr id="5" name="object 5"/>
            <p:cNvSpPr/>
            <p:nvPr/>
          </p:nvSpPr>
          <p:spPr>
            <a:xfrm>
              <a:off x="787361" y="4723892"/>
              <a:ext cx="506730" cy="506730"/>
            </a:xfrm>
            <a:custGeom>
              <a:avLst/>
              <a:gdLst/>
              <a:ahLst/>
              <a:cxnLst/>
              <a:rect l="l" t="t" r="r" b="b"/>
              <a:pathLst>
                <a:path w="506730" h="506729">
                  <a:moveTo>
                    <a:pt x="411645" y="0"/>
                  </a:moveTo>
                  <a:lnTo>
                    <a:pt x="94487" y="0"/>
                  </a:lnTo>
                  <a:lnTo>
                    <a:pt x="57708" y="7423"/>
                  </a:lnTo>
                  <a:lnTo>
                    <a:pt x="27674" y="27670"/>
                  </a:lnTo>
                  <a:lnTo>
                    <a:pt x="7425" y="57703"/>
                  </a:lnTo>
                  <a:lnTo>
                    <a:pt x="0" y="94487"/>
                  </a:lnTo>
                  <a:lnTo>
                    <a:pt x="0" y="411734"/>
                  </a:lnTo>
                  <a:lnTo>
                    <a:pt x="7425" y="448464"/>
                  </a:lnTo>
                  <a:lnTo>
                    <a:pt x="27674" y="478504"/>
                  </a:lnTo>
                  <a:lnTo>
                    <a:pt x="57708" y="498780"/>
                  </a:lnTo>
                  <a:lnTo>
                    <a:pt x="94487" y="506222"/>
                  </a:lnTo>
                  <a:lnTo>
                    <a:pt x="411645" y="506222"/>
                  </a:lnTo>
                  <a:lnTo>
                    <a:pt x="448424" y="498780"/>
                  </a:lnTo>
                  <a:lnTo>
                    <a:pt x="478458" y="478504"/>
                  </a:lnTo>
                  <a:lnTo>
                    <a:pt x="498707" y="448464"/>
                  </a:lnTo>
                  <a:lnTo>
                    <a:pt x="506133" y="411734"/>
                  </a:lnTo>
                  <a:lnTo>
                    <a:pt x="506133" y="94487"/>
                  </a:lnTo>
                  <a:lnTo>
                    <a:pt x="498707" y="57703"/>
                  </a:lnTo>
                  <a:lnTo>
                    <a:pt x="478458" y="27670"/>
                  </a:lnTo>
                  <a:lnTo>
                    <a:pt x="448424" y="7423"/>
                  </a:lnTo>
                  <a:lnTo>
                    <a:pt x="411645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87361" y="4723892"/>
              <a:ext cx="506730" cy="506730"/>
            </a:xfrm>
            <a:custGeom>
              <a:avLst/>
              <a:gdLst/>
              <a:ahLst/>
              <a:cxnLst/>
              <a:rect l="l" t="t" r="r" b="b"/>
              <a:pathLst>
                <a:path w="506730" h="506729">
                  <a:moveTo>
                    <a:pt x="0" y="94487"/>
                  </a:moveTo>
                  <a:lnTo>
                    <a:pt x="7425" y="57703"/>
                  </a:lnTo>
                  <a:lnTo>
                    <a:pt x="27674" y="27670"/>
                  </a:lnTo>
                  <a:lnTo>
                    <a:pt x="57708" y="7423"/>
                  </a:lnTo>
                  <a:lnTo>
                    <a:pt x="94487" y="0"/>
                  </a:lnTo>
                  <a:lnTo>
                    <a:pt x="411645" y="0"/>
                  </a:lnTo>
                  <a:lnTo>
                    <a:pt x="448424" y="7423"/>
                  </a:lnTo>
                  <a:lnTo>
                    <a:pt x="478458" y="27670"/>
                  </a:lnTo>
                  <a:lnTo>
                    <a:pt x="498707" y="57703"/>
                  </a:lnTo>
                  <a:lnTo>
                    <a:pt x="506133" y="94487"/>
                  </a:lnTo>
                  <a:lnTo>
                    <a:pt x="506133" y="411734"/>
                  </a:lnTo>
                  <a:lnTo>
                    <a:pt x="498707" y="448464"/>
                  </a:lnTo>
                  <a:lnTo>
                    <a:pt x="478458" y="478504"/>
                  </a:lnTo>
                  <a:lnTo>
                    <a:pt x="448424" y="498780"/>
                  </a:lnTo>
                  <a:lnTo>
                    <a:pt x="411645" y="506222"/>
                  </a:lnTo>
                  <a:lnTo>
                    <a:pt x="94487" y="506222"/>
                  </a:lnTo>
                  <a:lnTo>
                    <a:pt x="57708" y="498780"/>
                  </a:lnTo>
                  <a:lnTo>
                    <a:pt x="27674" y="478504"/>
                  </a:lnTo>
                  <a:lnTo>
                    <a:pt x="7425" y="448464"/>
                  </a:lnTo>
                  <a:lnTo>
                    <a:pt x="0" y="411734"/>
                  </a:lnTo>
                  <a:lnTo>
                    <a:pt x="0" y="94487"/>
                  </a:lnTo>
                  <a:close/>
                </a:path>
              </a:pathLst>
            </a:custGeom>
            <a:ln w="761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7423911" y="4720082"/>
            <a:ext cx="513715" cy="514350"/>
            <a:chOff x="7423911" y="4720082"/>
            <a:chExt cx="513715" cy="514350"/>
          </a:xfrm>
        </p:grpSpPr>
        <p:sp>
          <p:nvSpPr>
            <p:cNvPr id="8" name="object 8"/>
            <p:cNvSpPr/>
            <p:nvPr/>
          </p:nvSpPr>
          <p:spPr>
            <a:xfrm>
              <a:off x="7427721" y="4723892"/>
              <a:ext cx="506095" cy="506730"/>
            </a:xfrm>
            <a:custGeom>
              <a:avLst/>
              <a:gdLst/>
              <a:ahLst/>
              <a:cxnLst/>
              <a:rect l="l" t="t" r="r" b="b"/>
              <a:pathLst>
                <a:path w="506095" h="506729">
                  <a:moveTo>
                    <a:pt x="411606" y="0"/>
                  </a:moveTo>
                  <a:lnTo>
                    <a:pt x="94487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11734"/>
                  </a:lnTo>
                  <a:lnTo>
                    <a:pt x="7423" y="448464"/>
                  </a:lnTo>
                  <a:lnTo>
                    <a:pt x="27670" y="478504"/>
                  </a:lnTo>
                  <a:lnTo>
                    <a:pt x="57703" y="498780"/>
                  </a:lnTo>
                  <a:lnTo>
                    <a:pt x="94487" y="506222"/>
                  </a:lnTo>
                  <a:lnTo>
                    <a:pt x="411606" y="506222"/>
                  </a:lnTo>
                  <a:lnTo>
                    <a:pt x="448391" y="498780"/>
                  </a:lnTo>
                  <a:lnTo>
                    <a:pt x="478424" y="478504"/>
                  </a:lnTo>
                  <a:lnTo>
                    <a:pt x="498671" y="448464"/>
                  </a:lnTo>
                  <a:lnTo>
                    <a:pt x="506095" y="411734"/>
                  </a:lnTo>
                  <a:lnTo>
                    <a:pt x="506095" y="94487"/>
                  </a:lnTo>
                  <a:lnTo>
                    <a:pt x="498671" y="57703"/>
                  </a:lnTo>
                  <a:lnTo>
                    <a:pt x="478424" y="27670"/>
                  </a:lnTo>
                  <a:lnTo>
                    <a:pt x="448391" y="7423"/>
                  </a:lnTo>
                  <a:lnTo>
                    <a:pt x="411606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427721" y="4723892"/>
              <a:ext cx="506095" cy="506730"/>
            </a:xfrm>
            <a:custGeom>
              <a:avLst/>
              <a:gdLst/>
              <a:ahLst/>
              <a:cxnLst/>
              <a:rect l="l" t="t" r="r" b="b"/>
              <a:pathLst>
                <a:path w="506095" h="506729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411606" y="0"/>
                  </a:lnTo>
                  <a:lnTo>
                    <a:pt x="448391" y="7423"/>
                  </a:lnTo>
                  <a:lnTo>
                    <a:pt x="478424" y="27670"/>
                  </a:lnTo>
                  <a:lnTo>
                    <a:pt x="498671" y="57703"/>
                  </a:lnTo>
                  <a:lnTo>
                    <a:pt x="506095" y="94487"/>
                  </a:lnTo>
                  <a:lnTo>
                    <a:pt x="506095" y="411734"/>
                  </a:lnTo>
                  <a:lnTo>
                    <a:pt x="498671" y="448464"/>
                  </a:lnTo>
                  <a:lnTo>
                    <a:pt x="478424" y="478504"/>
                  </a:lnTo>
                  <a:lnTo>
                    <a:pt x="448391" y="498780"/>
                  </a:lnTo>
                  <a:lnTo>
                    <a:pt x="411606" y="506222"/>
                  </a:lnTo>
                  <a:lnTo>
                    <a:pt x="94487" y="506222"/>
                  </a:lnTo>
                  <a:lnTo>
                    <a:pt x="57703" y="498780"/>
                  </a:lnTo>
                  <a:lnTo>
                    <a:pt x="27670" y="478504"/>
                  </a:lnTo>
                  <a:lnTo>
                    <a:pt x="7423" y="448464"/>
                  </a:lnTo>
                  <a:lnTo>
                    <a:pt x="0" y="411734"/>
                  </a:lnTo>
                  <a:lnTo>
                    <a:pt x="0" y="94487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783551" y="6403975"/>
            <a:ext cx="514350" cy="514350"/>
            <a:chOff x="783551" y="6403975"/>
            <a:chExt cx="514350" cy="514350"/>
          </a:xfrm>
        </p:grpSpPr>
        <p:sp>
          <p:nvSpPr>
            <p:cNvPr id="11" name="object 11"/>
            <p:cNvSpPr/>
            <p:nvPr/>
          </p:nvSpPr>
          <p:spPr>
            <a:xfrm>
              <a:off x="787361" y="6407785"/>
              <a:ext cx="506730" cy="506730"/>
            </a:xfrm>
            <a:custGeom>
              <a:avLst/>
              <a:gdLst/>
              <a:ahLst/>
              <a:cxnLst/>
              <a:rect l="l" t="t" r="r" b="b"/>
              <a:pathLst>
                <a:path w="506730" h="506729">
                  <a:moveTo>
                    <a:pt x="411645" y="0"/>
                  </a:moveTo>
                  <a:lnTo>
                    <a:pt x="94487" y="0"/>
                  </a:lnTo>
                  <a:lnTo>
                    <a:pt x="57708" y="7423"/>
                  </a:lnTo>
                  <a:lnTo>
                    <a:pt x="27674" y="27670"/>
                  </a:lnTo>
                  <a:lnTo>
                    <a:pt x="7425" y="57703"/>
                  </a:lnTo>
                  <a:lnTo>
                    <a:pt x="0" y="94487"/>
                  </a:lnTo>
                  <a:lnTo>
                    <a:pt x="0" y="411733"/>
                  </a:lnTo>
                  <a:lnTo>
                    <a:pt x="7425" y="448518"/>
                  </a:lnTo>
                  <a:lnTo>
                    <a:pt x="27674" y="478551"/>
                  </a:lnTo>
                  <a:lnTo>
                    <a:pt x="57708" y="498798"/>
                  </a:lnTo>
                  <a:lnTo>
                    <a:pt x="94487" y="506221"/>
                  </a:lnTo>
                  <a:lnTo>
                    <a:pt x="411645" y="506221"/>
                  </a:lnTo>
                  <a:lnTo>
                    <a:pt x="448424" y="498798"/>
                  </a:lnTo>
                  <a:lnTo>
                    <a:pt x="478458" y="478551"/>
                  </a:lnTo>
                  <a:lnTo>
                    <a:pt x="498707" y="448518"/>
                  </a:lnTo>
                  <a:lnTo>
                    <a:pt x="506133" y="411733"/>
                  </a:lnTo>
                  <a:lnTo>
                    <a:pt x="506133" y="94487"/>
                  </a:lnTo>
                  <a:lnTo>
                    <a:pt x="498707" y="57703"/>
                  </a:lnTo>
                  <a:lnTo>
                    <a:pt x="478458" y="27670"/>
                  </a:lnTo>
                  <a:lnTo>
                    <a:pt x="448424" y="7423"/>
                  </a:lnTo>
                  <a:lnTo>
                    <a:pt x="411645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87361" y="6407785"/>
              <a:ext cx="506730" cy="506730"/>
            </a:xfrm>
            <a:custGeom>
              <a:avLst/>
              <a:gdLst/>
              <a:ahLst/>
              <a:cxnLst/>
              <a:rect l="l" t="t" r="r" b="b"/>
              <a:pathLst>
                <a:path w="506730" h="506729">
                  <a:moveTo>
                    <a:pt x="0" y="94487"/>
                  </a:moveTo>
                  <a:lnTo>
                    <a:pt x="7425" y="57703"/>
                  </a:lnTo>
                  <a:lnTo>
                    <a:pt x="27674" y="27670"/>
                  </a:lnTo>
                  <a:lnTo>
                    <a:pt x="57708" y="7423"/>
                  </a:lnTo>
                  <a:lnTo>
                    <a:pt x="94487" y="0"/>
                  </a:lnTo>
                  <a:lnTo>
                    <a:pt x="411645" y="0"/>
                  </a:lnTo>
                  <a:lnTo>
                    <a:pt x="448424" y="7423"/>
                  </a:lnTo>
                  <a:lnTo>
                    <a:pt x="478458" y="27670"/>
                  </a:lnTo>
                  <a:lnTo>
                    <a:pt x="498707" y="57703"/>
                  </a:lnTo>
                  <a:lnTo>
                    <a:pt x="506133" y="94487"/>
                  </a:lnTo>
                  <a:lnTo>
                    <a:pt x="506133" y="411733"/>
                  </a:lnTo>
                  <a:lnTo>
                    <a:pt x="498707" y="448518"/>
                  </a:lnTo>
                  <a:lnTo>
                    <a:pt x="478458" y="478551"/>
                  </a:lnTo>
                  <a:lnTo>
                    <a:pt x="448424" y="498798"/>
                  </a:lnTo>
                  <a:lnTo>
                    <a:pt x="411645" y="506221"/>
                  </a:lnTo>
                  <a:lnTo>
                    <a:pt x="94487" y="506221"/>
                  </a:lnTo>
                  <a:lnTo>
                    <a:pt x="57708" y="498798"/>
                  </a:lnTo>
                  <a:lnTo>
                    <a:pt x="27674" y="478551"/>
                  </a:lnTo>
                  <a:lnTo>
                    <a:pt x="7425" y="448518"/>
                  </a:lnTo>
                  <a:lnTo>
                    <a:pt x="0" y="411733"/>
                  </a:lnTo>
                  <a:lnTo>
                    <a:pt x="0" y="94487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05838" y="4700142"/>
            <a:ext cx="5175250" cy="287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Firewall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3000"/>
              </a:lnSpc>
              <a:spcBef>
                <a:spcPts val="945"/>
              </a:spcBef>
            </a:pPr>
            <a:r>
              <a:rPr sz="17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Cisco</a:t>
            </a:r>
            <a:r>
              <a:rPr sz="175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ASA</a:t>
            </a:r>
            <a:r>
              <a:rPr sz="175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protects</a:t>
            </a:r>
            <a:r>
              <a:rPr sz="175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75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network</a:t>
            </a:r>
            <a:r>
              <a:rPr sz="175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perimeter</a:t>
            </a:r>
            <a:r>
              <a:rPr sz="175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from </a:t>
            </a:r>
            <a:r>
              <a:rPr sz="175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threats.</a:t>
            </a:r>
            <a:endParaRPr sz="175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2030"/>
              </a:spcBef>
            </a:pPr>
            <a:endParaRPr sz="17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2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Encryption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sz="175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VPNs</a:t>
            </a:r>
            <a:r>
              <a:rPr sz="175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75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SSL/TLS</a:t>
            </a:r>
            <a:r>
              <a:rPr sz="175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encrypt</a:t>
            </a:r>
            <a:r>
              <a:rPr sz="175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75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75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web</a:t>
            </a:r>
            <a:r>
              <a:rPr sz="175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traffic</a:t>
            </a:r>
            <a:endParaRPr sz="17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750" spc="9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securely.</a:t>
            </a:r>
            <a:endParaRPr sz="17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23911" y="6403975"/>
            <a:ext cx="513715" cy="514350"/>
            <a:chOff x="7423911" y="6403975"/>
            <a:chExt cx="513715" cy="514350"/>
          </a:xfrm>
        </p:grpSpPr>
        <p:sp>
          <p:nvSpPr>
            <p:cNvPr id="15" name="object 15"/>
            <p:cNvSpPr/>
            <p:nvPr/>
          </p:nvSpPr>
          <p:spPr>
            <a:xfrm>
              <a:off x="7427721" y="6407785"/>
              <a:ext cx="506095" cy="506730"/>
            </a:xfrm>
            <a:custGeom>
              <a:avLst/>
              <a:gdLst/>
              <a:ahLst/>
              <a:cxnLst/>
              <a:rect l="l" t="t" r="r" b="b"/>
              <a:pathLst>
                <a:path w="506095" h="506729">
                  <a:moveTo>
                    <a:pt x="411606" y="0"/>
                  </a:moveTo>
                  <a:lnTo>
                    <a:pt x="94487" y="0"/>
                  </a:lnTo>
                  <a:lnTo>
                    <a:pt x="57703" y="7423"/>
                  </a:lnTo>
                  <a:lnTo>
                    <a:pt x="27670" y="27670"/>
                  </a:lnTo>
                  <a:lnTo>
                    <a:pt x="7423" y="57703"/>
                  </a:lnTo>
                  <a:lnTo>
                    <a:pt x="0" y="94487"/>
                  </a:lnTo>
                  <a:lnTo>
                    <a:pt x="0" y="411733"/>
                  </a:lnTo>
                  <a:lnTo>
                    <a:pt x="7423" y="448518"/>
                  </a:lnTo>
                  <a:lnTo>
                    <a:pt x="27670" y="478551"/>
                  </a:lnTo>
                  <a:lnTo>
                    <a:pt x="57703" y="498798"/>
                  </a:lnTo>
                  <a:lnTo>
                    <a:pt x="94487" y="506221"/>
                  </a:lnTo>
                  <a:lnTo>
                    <a:pt x="411606" y="506221"/>
                  </a:lnTo>
                  <a:lnTo>
                    <a:pt x="448391" y="498798"/>
                  </a:lnTo>
                  <a:lnTo>
                    <a:pt x="478424" y="478551"/>
                  </a:lnTo>
                  <a:lnTo>
                    <a:pt x="498671" y="448518"/>
                  </a:lnTo>
                  <a:lnTo>
                    <a:pt x="506095" y="411733"/>
                  </a:lnTo>
                  <a:lnTo>
                    <a:pt x="506095" y="94487"/>
                  </a:lnTo>
                  <a:lnTo>
                    <a:pt x="498671" y="57703"/>
                  </a:lnTo>
                  <a:lnTo>
                    <a:pt x="478424" y="27670"/>
                  </a:lnTo>
                  <a:lnTo>
                    <a:pt x="448391" y="7423"/>
                  </a:lnTo>
                  <a:lnTo>
                    <a:pt x="411606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427721" y="6407785"/>
              <a:ext cx="506095" cy="506730"/>
            </a:xfrm>
            <a:custGeom>
              <a:avLst/>
              <a:gdLst/>
              <a:ahLst/>
              <a:cxnLst/>
              <a:rect l="l" t="t" r="r" b="b"/>
              <a:pathLst>
                <a:path w="506095" h="506729">
                  <a:moveTo>
                    <a:pt x="0" y="94487"/>
                  </a:moveTo>
                  <a:lnTo>
                    <a:pt x="7423" y="57703"/>
                  </a:lnTo>
                  <a:lnTo>
                    <a:pt x="27670" y="27670"/>
                  </a:lnTo>
                  <a:lnTo>
                    <a:pt x="57703" y="7423"/>
                  </a:lnTo>
                  <a:lnTo>
                    <a:pt x="94487" y="0"/>
                  </a:lnTo>
                  <a:lnTo>
                    <a:pt x="411606" y="0"/>
                  </a:lnTo>
                  <a:lnTo>
                    <a:pt x="448391" y="7423"/>
                  </a:lnTo>
                  <a:lnTo>
                    <a:pt x="478424" y="27670"/>
                  </a:lnTo>
                  <a:lnTo>
                    <a:pt x="498671" y="57703"/>
                  </a:lnTo>
                  <a:lnTo>
                    <a:pt x="506095" y="94487"/>
                  </a:lnTo>
                  <a:lnTo>
                    <a:pt x="506095" y="411733"/>
                  </a:lnTo>
                  <a:lnTo>
                    <a:pt x="498671" y="448518"/>
                  </a:lnTo>
                  <a:lnTo>
                    <a:pt x="478424" y="478551"/>
                  </a:lnTo>
                  <a:lnTo>
                    <a:pt x="448391" y="498798"/>
                  </a:lnTo>
                  <a:lnTo>
                    <a:pt x="411606" y="506221"/>
                  </a:lnTo>
                  <a:lnTo>
                    <a:pt x="94487" y="506221"/>
                  </a:lnTo>
                  <a:lnTo>
                    <a:pt x="57703" y="498798"/>
                  </a:lnTo>
                  <a:lnTo>
                    <a:pt x="27670" y="478551"/>
                  </a:lnTo>
                  <a:lnTo>
                    <a:pt x="7423" y="448518"/>
                  </a:lnTo>
                  <a:lnTo>
                    <a:pt x="0" y="411733"/>
                  </a:lnTo>
                  <a:lnTo>
                    <a:pt x="0" y="94487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8146795" y="4700142"/>
            <a:ext cx="5288280" cy="2874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Traffic</a:t>
            </a:r>
            <a:r>
              <a:rPr sz="220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20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Control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3000"/>
              </a:lnSpc>
              <a:spcBef>
                <a:spcPts val="945"/>
              </a:spcBef>
            </a:pPr>
            <a:r>
              <a:rPr sz="17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Access</a:t>
            </a:r>
            <a:r>
              <a:rPr sz="175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Control</a:t>
            </a:r>
            <a:r>
              <a:rPr sz="175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Lists</a:t>
            </a:r>
            <a:r>
              <a:rPr sz="175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restrict</a:t>
            </a:r>
            <a:r>
              <a:rPr sz="1750" spc="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unauthorized</a:t>
            </a:r>
            <a:r>
              <a:rPr sz="175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VLAN </a:t>
            </a:r>
            <a:r>
              <a:rPr sz="175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communication.</a:t>
            </a:r>
            <a:endParaRPr sz="1750">
              <a:latin typeface="Cambria" panose="02040503050406030204"/>
              <a:cs typeface="Cambria" panose="02040503050406030204"/>
            </a:endParaRPr>
          </a:p>
          <a:p>
            <a:pPr>
              <a:lnSpc>
                <a:spcPct val="100000"/>
              </a:lnSpc>
              <a:spcBef>
                <a:spcPts val="2030"/>
              </a:spcBef>
            </a:pPr>
            <a:endParaRPr sz="17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</a:pPr>
            <a:r>
              <a:rPr sz="220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Authentication</a:t>
            </a:r>
            <a:endParaRPr sz="22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sz="175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RADIUS</a:t>
            </a:r>
            <a:r>
              <a:rPr sz="175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9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server</a:t>
            </a:r>
            <a:r>
              <a:rPr sz="175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verifies</a:t>
            </a:r>
            <a:r>
              <a:rPr sz="175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staff</a:t>
            </a:r>
            <a:r>
              <a:rPr sz="175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network</a:t>
            </a:r>
            <a:r>
              <a:rPr sz="175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5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access</a:t>
            </a:r>
            <a:endParaRPr sz="17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750" spc="1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credentials.</a:t>
            </a:r>
            <a:endParaRPr sz="175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04727" y="6970151"/>
            <a:ext cx="3225673" cy="12594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144000" y="-2"/>
            <a:ext cx="54864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49579" y="635584"/>
            <a:ext cx="63334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345" dirty="0"/>
              <a:t>Threat</a:t>
            </a:r>
            <a:r>
              <a:rPr sz="4800" spc="80" dirty="0"/>
              <a:t> </a:t>
            </a:r>
            <a:r>
              <a:rPr sz="4800" spc="335" dirty="0"/>
              <a:t>Identification</a:t>
            </a:r>
            <a:endParaRPr sz="4800"/>
          </a:p>
        </p:txBody>
      </p:sp>
      <p:sp>
        <p:nvSpPr>
          <p:cNvPr id="4" name="object 4"/>
          <p:cNvSpPr txBox="1"/>
          <p:nvPr/>
        </p:nvSpPr>
        <p:spPr>
          <a:xfrm>
            <a:off x="1105611" y="1786254"/>
            <a:ext cx="1909445" cy="248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160">
              <a:lnSpc>
                <a:spcPts val="3000"/>
              </a:lnSpc>
              <a:spcBef>
                <a:spcPts val="100"/>
              </a:spcBef>
            </a:pPr>
            <a:r>
              <a:rPr sz="2400" spc="17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Unauthorize </a:t>
            </a:r>
            <a:r>
              <a:rPr sz="240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</a:t>
            </a:r>
            <a:r>
              <a:rPr sz="240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Access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6000"/>
              </a:lnSpc>
              <a:spcBef>
                <a:spcPts val="975"/>
              </a:spcBef>
            </a:pPr>
            <a:r>
              <a:rPr sz="19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Prevent </a:t>
            </a:r>
            <a:r>
              <a:rPr sz="19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intrusions</a:t>
            </a:r>
            <a:r>
              <a:rPr sz="1900" spc="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from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unauthorized </a:t>
            </a:r>
            <a:r>
              <a:rPr sz="19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users.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2177" y="1786254"/>
            <a:ext cx="1776095" cy="248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18795">
              <a:lnSpc>
                <a:spcPts val="3000"/>
              </a:lnSpc>
              <a:spcBef>
                <a:spcPts val="100"/>
              </a:spcBef>
            </a:pPr>
            <a:r>
              <a:rPr sz="2400" spc="3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Wi-</a:t>
            </a:r>
            <a:r>
              <a:rPr sz="24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Fi </a:t>
            </a:r>
            <a:r>
              <a:rPr sz="240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Security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6000"/>
              </a:lnSpc>
              <a:spcBef>
                <a:spcPts val="975"/>
              </a:spcBef>
            </a:pPr>
            <a:r>
              <a:rPr sz="19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Guard</a:t>
            </a:r>
            <a:r>
              <a:rPr sz="190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against </a:t>
            </a:r>
            <a:r>
              <a:rPr sz="19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eavesdropping </a:t>
            </a:r>
            <a:r>
              <a:rPr sz="190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9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rogue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access</a:t>
            </a:r>
            <a:r>
              <a:rPr sz="190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points.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98819" y="1786254"/>
            <a:ext cx="1886585" cy="2487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9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DDoS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Attacks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6000"/>
              </a:lnSpc>
              <a:spcBef>
                <a:spcPts val="1095"/>
              </a:spcBef>
            </a:pPr>
            <a:r>
              <a:rPr sz="1900" spc="1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Implement</a:t>
            </a:r>
            <a:r>
              <a:rPr sz="1900" spc="7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9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rate </a:t>
            </a:r>
            <a:r>
              <a:rPr sz="19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limiting</a:t>
            </a:r>
            <a:r>
              <a:rPr sz="1900" spc="8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to </a:t>
            </a:r>
            <a:r>
              <a:rPr sz="19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protect</a:t>
            </a:r>
            <a:r>
              <a:rPr sz="19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from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traffic</a:t>
            </a:r>
            <a:r>
              <a:rPr sz="1900" spc="7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floods.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05611" y="5019802"/>
            <a:ext cx="1978025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Malware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6000"/>
              </a:lnSpc>
              <a:spcBef>
                <a:spcPts val="1070"/>
              </a:spcBef>
            </a:pPr>
            <a:r>
              <a:rPr sz="19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Use</a:t>
            </a:r>
            <a:r>
              <a:rPr sz="1900" spc="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endpoint protection</a:t>
            </a:r>
            <a:r>
              <a:rPr sz="1900" spc="8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 </a:t>
            </a:r>
            <a:r>
              <a:rPr sz="19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network </a:t>
            </a:r>
            <a:r>
              <a:rPr sz="19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segmentation</a:t>
            </a:r>
            <a:r>
              <a:rPr sz="1900" spc="8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to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isolate</a:t>
            </a:r>
            <a:r>
              <a:rPr sz="19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threats.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0"/>
            <a:ext cx="14630399" cy="27318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2348" y="3291332"/>
            <a:ext cx="6356350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spc="320" dirty="0"/>
              <a:t>Solutions</a:t>
            </a:r>
            <a:r>
              <a:rPr sz="4300" spc="120" dirty="0"/>
              <a:t> </a:t>
            </a:r>
            <a:r>
              <a:rPr sz="4300" spc="345" dirty="0"/>
              <a:t>Implemented</a:t>
            </a:r>
            <a:endParaRPr sz="4300"/>
          </a:p>
        </p:txBody>
      </p:sp>
      <p:sp>
        <p:nvSpPr>
          <p:cNvPr id="4" name="object 4"/>
          <p:cNvSpPr txBox="1"/>
          <p:nvPr/>
        </p:nvSpPr>
        <p:spPr>
          <a:xfrm>
            <a:off x="970889" y="5519420"/>
            <a:ext cx="2742565" cy="1535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18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VLAN</a:t>
            </a:r>
            <a:r>
              <a:rPr sz="215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150" spc="1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Segmentation</a:t>
            </a:r>
            <a:endParaRPr sz="2150">
              <a:latin typeface="Cambria" panose="02040503050406030204"/>
              <a:cs typeface="Cambria" panose="02040503050406030204"/>
            </a:endParaRPr>
          </a:p>
          <a:p>
            <a:pPr marL="12700" marR="386715">
              <a:lnSpc>
                <a:spcPct val="137000"/>
              </a:lnSpc>
              <a:spcBef>
                <a:spcPts val="905"/>
              </a:spcBef>
            </a:pPr>
            <a:r>
              <a:rPr sz="17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Isolated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guest</a:t>
            </a:r>
            <a:r>
              <a:rPr sz="17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from </a:t>
            </a:r>
            <a:r>
              <a:rPr sz="17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sensitive</a:t>
            </a:r>
            <a:r>
              <a:rPr sz="170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hotel</a:t>
            </a:r>
            <a:r>
              <a:rPr sz="170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data</a:t>
            </a:r>
            <a:r>
              <a:rPr sz="170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to </a:t>
            </a:r>
            <a:r>
              <a:rPr sz="17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reduce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9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risks.</a:t>
            </a:r>
            <a:endParaRPr sz="17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857" y="4344403"/>
            <a:ext cx="13100748" cy="87415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246245" y="5519420"/>
            <a:ext cx="2422525" cy="1535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Firewall</a:t>
            </a:r>
            <a:r>
              <a:rPr sz="215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1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Policies</a:t>
            </a:r>
            <a:endParaRPr sz="215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7000"/>
              </a:lnSpc>
              <a:spcBef>
                <a:spcPts val="905"/>
              </a:spcBef>
            </a:pPr>
            <a:r>
              <a:rPr sz="17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Block</a:t>
            </a:r>
            <a:r>
              <a:rPr sz="1700" spc="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malicious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traffic </a:t>
            </a:r>
            <a:r>
              <a:rPr sz="17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70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support</a:t>
            </a:r>
            <a:r>
              <a:rPr sz="1700" spc="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intrusion </a:t>
            </a:r>
            <a:r>
              <a:rPr sz="17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detection.</a:t>
            </a:r>
            <a:endParaRPr sz="17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521702" y="5519420"/>
            <a:ext cx="2727325" cy="187706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947420">
              <a:lnSpc>
                <a:spcPts val="2700"/>
              </a:lnSpc>
              <a:spcBef>
                <a:spcPts val="85"/>
              </a:spcBef>
            </a:pPr>
            <a:r>
              <a:rPr sz="21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Password </a:t>
            </a:r>
            <a:r>
              <a:rPr sz="2150" spc="1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Enforcement</a:t>
            </a:r>
            <a:endParaRPr sz="215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7000"/>
              </a:lnSpc>
              <a:spcBef>
                <a:spcPts val="780"/>
              </a:spcBef>
            </a:pPr>
            <a:r>
              <a:rPr sz="170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Require</a:t>
            </a:r>
            <a:r>
              <a:rPr sz="1700" spc="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complex </a:t>
            </a:r>
            <a:r>
              <a:rPr sz="17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passwords</a:t>
            </a:r>
            <a:r>
              <a:rPr sz="1700" spc="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70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all</a:t>
            </a:r>
            <a:r>
              <a:rPr sz="170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users</a:t>
            </a:r>
            <a:r>
              <a:rPr sz="170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to </a:t>
            </a:r>
            <a:r>
              <a:rPr sz="17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enhance</a:t>
            </a:r>
            <a:r>
              <a:rPr sz="170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9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security.</a:t>
            </a:r>
            <a:endParaRPr sz="17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97031" y="5519420"/>
            <a:ext cx="2332355" cy="1535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Regular</a:t>
            </a:r>
            <a:r>
              <a:rPr sz="215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15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Updates</a:t>
            </a:r>
            <a:endParaRPr sz="215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7000"/>
              </a:lnSpc>
              <a:spcBef>
                <a:spcPts val="905"/>
              </a:spcBef>
            </a:pPr>
            <a:r>
              <a:rPr sz="170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Keep</a:t>
            </a:r>
            <a:r>
              <a:rPr sz="170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network</a:t>
            </a:r>
            <a:r>
              <a:rPr sz="170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9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devices </a:t>
            </a: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patched</a:t>
            </a:r>
            <a:r>
              <a:rPr sz="17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to</a:t>
            </a:r>
            <a:r>
              <a:rPr sz="17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7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fix </a:t>
            </a:r>
            <a:r>
              <a:rPr sz="1700" spc="9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vulnerabilities.</a:t>
            </a:r>
            <a:endParaRPr sz="17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9851" y="6989191"/>
            <a:ext cx="3630549" cy="12404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26440" y="832485"/>
            <a:ext cx="5911215" cy="65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50" spc="335" dirty="0"/>
              <a:t>Testing</a:t>
            </a:r>
            <a:r>
              <a:rPr sz="4150" spc="85" dirty="0"/>
              <a:t> </a:t>
            </a:r>
            <a:r>
              <a:rPr sz="4150" spc="330" dirty="0"/>
              <a:t>and</a:t>
            </a:r>
            <a:r>
              <a:rPr sz="4150" spc="90" dirty="0"/>
              <a:t> </a:t>
            </a:r>
            <a:r>
              <a:rPr sz="4150" spc="265" dirty="0"/>
              <a:t>Validation</a:t>
            </a:r>
            <a:endParaRPr sz="4150"/>
          </a:p>
        </p:txBody>
      </p:sp>
      <p:grpSp>
        <p:nvGrpSpPr>
          <p:cNvPr id="4" name="object 4"/>
          <p:cNvGrpSpPr/>
          <p:nvPr/>
        </p:nvGrpSpPr>
        <p:grpSpPr>
          <a:xfrm>
            <a:off x="735215" y="1853438"/>
            <a:ext cx="1089660" cy="5499735"/>
            <a:chOff x="735215" y="1853438"/>
            <a:chExt cx="1089660" cy="5499735"/>
          </a:xfrm>
        </p:grpSpPr>
        <p:sp>
          <p:nvSpPr>
            <p:cNvPr id="5" name="object 5"/>
            <p:cNvSpPr/>
            <p:nvPr/>
          </p:nvSpPr>
          <p:spPr>
            <a:xfrm>
              <a:off x="976553" y="1853437"/>
              <a:ext cx="848360" cy="5499735"/>
            </a:xfrm>
            <a:custGeom>
              <a:avLst/>
              <a:gdLst/>
              <a:ahLst/>
              <a:cxnLst/>
              <a:rect l="l" t="t" r="r" b="b"/>
              <a:pathLst>
                <a:path w="848360" h="5499734">
                  <a:moveTo>
                    <a:pt x="22860" y="5080"/>
                  </a:moveTo>
                  <a:lnTo>
                    <a:pt x="17741" y="0"/>
                  </a:lnTo>
                  <a:lnTo>
                    <a:pt x="5118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5494032"/>
                  </a:lnTo>
                  <a:lnTo>
                    <a:pt x="5118" y="5499151"/>
                  </a:lnTo>
                  <a:lnTo>
                    <a:pt x="17741" y="5499151"/>
                  </a:lnTo>
                  <a:lnTo>
                    <a:pt x="22860" y="5494032"/>
                  </a:lnTo>
                  <a:lnTo>
                    <a:pt x="22860" y="5080"/>
                  </a:lnTo>
                  <a:close/>
                </a:path>
                <a:path w="848360" h="5499734">
                  <a:moveTo>
                    <a:pt x="848055" y="468757"/>
                  </a:moveTo>
                  <a:lnTo>
                    <a:pt x="842975" y="463677"/>
                  </a:lnTo>
                  <a:lnTo>
                    <a:pt x="219786" y="463677"/>
                  </a:lnTo>
                  <a:lnTo>
                    <a:pt x="214668" y="468757"/>
                  </a:lnTo>
                  <a:lnTo>
                    <a:pt x="214668" y="475107"/>
                  </a:lnTo>
                  <a:lnTo>
                    <a:pt x="214668" y="481330"/>
                  </a:lnTo>
                  <a:lnTo>
                    <a:pt x="219786" y="486537"/>
                  </a:lnTo>
                  <a:lnTo>
                    <a:pt x="842975" y="486537"/>
                  </a:lnTo>
                  <a:lnTo>
                    <a:pt x="848055" y="481330"/>
                  </a:lnTo>
                  <a:lnTo>
                    <a:pt x="848055" y="468757"/>
                  </a:lnTo>
                  <a:close/>
                </a:path>
              </a:pathLst>
            </a:custGeom>
            <a:solidFill>
              <a:srgbClr val="184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39025" y="2090928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386372" y="0"/>
                  </a:moveTo>
                  <a:lnTo>
                    <a:pt x="88684" y="0"/>
                  </a:lnTo>
                  <a:lnTo>
                    <a:pt x="54162" y="6977"/>
                  </a:lnTo>
                  <a:lnTo>
                    <a:pt x="25973" y="26003"/>
                  </a:lnTo>
                  <a:lnTo>
                    <a:pt x="6968" y="54221"/>
                  </a:lnTo>
                  <a:lnTo>
                    <a:pt x="0" y="88773"/>
                  </a:lnTo>
                  <a:lnTo>
                    <a:pt x="0" y="386461"/>
                  </a:lnTo>
                  <a:lnTo>
                    <a:pt x="6968" y="420939"/>
                  </a:lnTo>
                  <a:lnTo>
                    <a:pt x="25973" y="449119"/>
                  </a:lnTo>
                  <a:lnTo>
                    <a:pt x="54162" y="468131"/>
                  </a:lnTo>
                  <a:lnTo>
                    <a:pt x="88684" y="475107"/>
                  </a:lnTo>
                  <a:lnTo>
                    <a:pt x="386372" y="475107"/>
                  </a:lnTo>
                  <a:lnTo>
                    <a:pt x="420888" y="468131"/>
                  </a:lnTo>
                  <a:lnTo>
                    <a:pt x="449078" y="449119"/>
                  </a:lnTo>
                  <a:lnTo>
                    <a:pt x="468085" y="420939"/>
                  </a:lnTo>
                  <a:lnTo>
                    <a:pt x="475056" y="386461"/>
                  </a:lnTo>
                  <a:lnTo>
                    <a:pt x="475056" y="88773"/>
                  </a:lnTo>
                  <a:lnTo>
                    <a:pt x="468085" y="54221"/>
                  </a:lnTo>
                  <a:lnTo>
                    <a:pt x="449078" y="26003"/>
                  </a:lnTo>
                  <a:lnTo>
                    <a:pt x="420888" y="6977"/>
                  </a:lnTo>
                  <a:lnTo>
                    <a:pt x="38637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39025" y="2090928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88773"/>
                  </a:moveTo>
                  <a:lnTo>
                    <a:pt x="6968" y="54221"/>
                  </a:lnTo>
                  <a:lnTo>
                    <a:pt x="25973" y="26003"/>
                  </a:lnTo>
                  <a:lnTo>
                    <a:pt x="54162" y="6977"/>
                  </a:lnTo>
                  <a:lnTo>
                    <a:pt x="88684" y="0"/>
                  </a:lnTo>
                  <a:lnTo>
                    <a:pt x="386372" y="0"/>
                  </a:lnTo>
                  <a:lnTo>
                    <a:pt x="420888" y="6977"/>
                  </a:lnTo>
                  <a:lnTo>
                    <a:pt x="449078" y="26003"/>
                  </a:lnTo>
                  <a:lnTo>
                    <a:pt x="468085" y="54221"/>
                  </a:lnTo>
                  <a:lnTo>
                    <a:pt x="475056" y="88773"/>
                  </a:lnTo>
                  <a:lnTo>
                    <a:pt x="475056" y="386461"/>
                  </a:lnTo>
                  <a:lnTo>
                    <a:pt x="468085" y="420939"/>
                  </a:lnTo>
                  <a:lnTo>
                    <a:pt x="449078" y="449119"/>
                  </a:lnTo>
                  <a:lnTo>
                    <a:pt x="420888" y="468131"/>
                  </a:lnTo>
                  <a:lnTo>
                    <a:pt x="386372" y="475107"/>
                  </a:lnTo>
                  <a:lnTo>
                    <a:pt x="88684" y="475107"/>
                  </a:lnTo>
                  <a:lnTo>
                    <a:pt x="54162" y="468131"/>
                  </a:lnTo>
                  <a:lnTo>
                    <a:pt x="25973" y="449119"/>
                  </a:lnTo>
                  <a:lnTo>
                    <a:pt x="6968" y="420939"/>
                  </a:lnTo>
                  <a:lnTo>
                    <a:pt x="0" y="386461"/>
                  </a:lnTo>
                  <a:lnTo>
                    <a:pt x="0" y="88773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94384" y="2045335"/>
            <a:ext cx="1625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3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1</a:t>
            </a:r>
            <a:endParaRPr sz="2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19680" y="2040127"/>
            <a:ext cx="6148070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Connectivity</a:t>
            </a:r>
            <a:endParaRPr sz="20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65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Pings</a:t>
            </a:r>
            <a:r>
              <a:rPr sz="165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between</a:t>
            </a:r>
            <a:r>
              <a:rPr sz="165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VLANs</a:t>
            </a:r>
            <a:r>
              <a:rPr sz="1650" spc="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0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verified</a:t>
            </a:r>
            <a:r>
              <a:rPr sz="165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plus</a:t>
            </a:r>
            <a:r>
              <a:rPr sz="165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internet</a:t>
            </a:r>
            <a:r>
              <a:rPr sz="165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access</a:t>
            </a:r>
            <a:r>
              <a:rPr sz="165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checked.</a:t>
            </a:r>
            <a:endParaRPr sz="16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35215" y="3514725"/>
            <a:ext cx="1089660" cy="483234"/>
            <a:chOff x="735215" y="3514725"/>
            <a:chExt cx="1089660" cy="483234"/>
          </a:xfrm>
        </p:grpSpPr>
        <p:sp>
          <p:nvSpPr>
            <p:cNvPr id="11" name="object 11"/>
            <p:cNvSpPr/>
            <p:nvPr/>
          </p:nvSpPr>
          <p:spPr>
            <a:xfrm>
              <a:off x="1191221" y="3744595"/>
              <a:ext cx="633730" cy="22860"/>
            </a:xfrm>
            <a:custGeom>
              <a:avLst/>
              <a:gdLst/>
              <a:ahLst/>
              <a:cxnLst/>
              <a:rect l="l" t="t" r="r" b="b"/>
              <a:pathLst>
                <a:path w="633730" h="22860">
                  <a:moveTo>
                    <a:pt x="628307" y="0"/>
                  </a:moveTo>
                  <a:lnTo>
                    <a:pt x="5118" y="0"/>
                  </a:lnTo>
                  <a:lnTo>
                    <a:pt x="0" y="5206"/>
                  </a:lnTo>
                  <a:lnTo>
                    <a:pt x="0" y="11429"/>
                  </a:lnTo>
                  <a:lnTo>
                    <a:pt x="0" y="17779"/>
                  </a:lnTo>
                  <a:lnTo>
                    <a:pt x="5118" y="22859"/>
                  </a:lnTo>
                  <a:lnTo>
                    <a:pt x="628307" y="22859"/>
                  </a:lnTo>
                  <a:lnTo>
                    <a:pt x="633387" y="17779"/>
                  </a:lnTo>
                  <a:lnTo>
                    <a:pt x="633387" y="5206"/>
                  </a:lnTo>
                  <a:lnTo>
                    <a:pt x="628307" y="0"/>
                  </a:lnTo>
                  <a:close/>
                </a:path>
              </a:pathLst>
            </a:custGeom>
            <a:solidFill>
              <a:srgbClr val="184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39025" y="351853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386372" y="0"/>
                  </a:moveTo>
                  <a:lnTo>
                    <a:pt x="88684" y="0"/>
                  </a:lnTo>
                  <a:lnTo>
                    <a:pt x="54162" y="6975"/>
                  </a:lnTo>
                  <a:lnTo>
                    <a:pt x="25973" y="25987"/>
                  </a:lnTo>
                  <a:lnTo>
                    <a:pt x="6968" y="54167"/>
                  </a:lnTo>
                  <a:lnTo>
                    <a:pt x="0" y="88645"/>
                  </a:lnTo>
                  <a:lnTo>
                    <a:pt x="0" y="386334"/>
                  </a:lnTo>
                  <a:lnTo>
                    <a:pt x="6968" y="420885"/>
                  </a:lnTo>
                  <a:lnTo>
                    <a:pt x="25973" y="449103"/>
                  </a:lnTo>
                  <a:lnTo>
                    <a:pt x="54162" y="468129"/>
                  </a:lnTo>
                  <a:lnTo>
                    <a:pt x="88684" y="475106"/>
                  </a:lnTo>
                  <a:lnTo>
                    <a:pt x="386372" y="475106"/>
                  </a:lnTo>
                  <a:lnTo>
                    <a:pt x="420888" y="468129"/>
                  </a:lnTo>
                  <a:lnTo>
                    <a:pt x="449078" y="449103"/>
                  </a:lnTo>
                  <a:lnTo>
                    <a:pt x="468085" y="420885"/>
                  </a:lnTo>
                  <a:lnTo>
                    <a:pt x="475056" y="386334"/>
                  </a:lnTo>
                  <a:lnTo>
                    <a:pt x="475056" y="88645"/>
                  </a:lnTo>
                  <a:lnTo>
                    <a:pt x="468085" y="54167"/>
                  </a:lnTo>
                  <a:lnTo>
                    <a:pt x="449078" y="25987"/>
                  </a:lnTo>
                  <a:lnTo>
                    <a:pt x="420888" y="6975"/>
                  </a:lnTo>
                  <a:lnTo>
                    <a:pt x="38637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39025" y="3518535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4">
                  <a:moveTo>
                    <a:pt x="0" y="88645"/>
                  </a:moveTo>
                  <a:lnTo>
                    <a:pt x="6968" y="54167"/>
                  </a:lnTo>
                  <a:lnTo>
                    <a:pt x="25973" y="25987"/>
                  </a:lnTo>
                  <a:lnTo>
                    <a:pt x="54162" y="6975"/>
                  </a:lnTo>
                  <a:lnTo>
                    <a:pt x="88684" y="0"/>
                  </a:lnTo>
                  <a:lnTo>
                    <a:pt x="386372" y="0"/>
                  </a:lnTo>
                  <a:lnTo>
                    <a:pt x="420888" y="6975"/>
                  </a:lnTo>
                  <a:lnTo>
                    <a:pt x="449078" y="25987"/>
                  </a:lnTo>
                  <a:lnTo>
                    <a:pt x="468085" y="54167"/>
                  </a:lnTo>
                  <a:lnTo>
                    <a:pt x="475056" y="88645"/>
                  </a:lnTo>
                  <a:lnTo>
                    <a:pt x="475056" y="386334"/>
                  </a:lnTo>
                  <a:lnTo>
                    <a:pt x="468085" y="420885"/>
                  </a:lnTo>
                  <a:lnTo>
                    <a:pt x="449078" y="449103"/>
                  </a:lnTo>
                  <a:lnTo>
                    <a:pt x="420888" y="468129"/>
                  </a:lnTo>
                  <a:lnTo>
                    <a:pt x="386372" y="475106"/>
                  </a:lnTo>
                  <a:lnTo>
                    <a:pt x="88684" y="475106"/>
                  </a:lnTo>
                  <a:lnTo>
                    <a:pt x="54162" y="468129"/>
                  </a:lnTo>
                  <a:lnTo>
                    <a:pt x="25973" y="449103"/>
                  </a:lnTo>
                  <a:lnTo>
                    <a:pt x="6968" y="420885"/>
                  </a:lnTo>
                  <a:lnTo>
                    <a:pt x="0" y="386334"/>
                  </a:lnTo>
                  <a:lnTo>
                    <a:pt x="0" y="88645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70000" y="3472941"/>
            <a:ext cx="211454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2</a:t>
            </a:r>
            <a:endParaRPr sz="2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19680" y="3467556"/>
            <a:ext cx="5678170" cy="794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5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Security</a:t>
            </a:r>
            <a:r>
              <a:rPr sz="205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Audits</a:t>
            </a:r>
            <a:endParaRPr sz="20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65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Performed</a:t>
            </a:r>
            <a:r>
              <a:rPr sz="1650" spc="-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0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vulnerability</a:t>
            </a:r>
            <a:r>
              <a:rPr sz="165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scans</a:t>
            </a:r>
            <a:r>
              <a:rPr sz="165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65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penetration</a:t>
            </a:r>
            <a:r>
              <a:rPr sz="165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testing.</a:t>
            </a:r>
            <a:endParaRPr sz="16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35215" y="4942332"/>
            <a:ext cx="1089660" cy="482600"/>
            <a:chOff x="735215" y="4942332"/>
            <a:chExt cx="1089660" cy="482600"/>
          </a:xfrm>
        </p:grpSpPr>
        <p:sp>
          <p:nvSpPr>
            <p:cNvPr id="17" name="object 17"/>
            <p:cNvSpPr/>
            <p:nvPr/>
          </p:nvSpPr>
          <p:spPr>
            <a:xfrm>
              <a:off x="1191221" y="5172202"/>
              <a:ext cx="633730" cy="22860"/>
            </a:xfrm>
            <a:custGeom>
              <a:avLst/>
              <a:gdLst/>
              <a:ahLst/>
              <a:cxnLst/>
              <a:rect l="l" t="t" r="r" b="b"/>
              <a:pathLst>
                <a:path w="633730" h="22860">
                  <a:moveTo>
                    <a:pt x="628307" y="0"/>
                  </a:moveTo>
                  <a:lnTo>
                    <a:pt x="5118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780"/>
                  </a:lnTo>
                  <a:lnTo>
                    <a:pt x="5118" y="22860"/>
                  </a:lnTo>
                  <a:lnTo>
                    <a:pt x="628307" y="22860"/>
                  </a:lnTo>
                  <a:lnTo>
                    <a:pt x="633387" y="17780"/>
                  </a:lnTo>
                  <a:lnTo>
                    <a:pt x="633387" y="5080"/>
                  </a:lnTo>
                  <a:lnTo>
                    <a:pt x="628307" y="0"/>
                  </a:lnTo>
                  <a:close/>
                </a:path>
              </a:pathLst>
            </a:custGeom>
            <a:solidFill>
              <a:srgbClr val="184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39025" y="494614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386372" y="0"/>
                  </a:moveTo>
                  <a:lnTo>
                    <a:pt x="88684" y="0"/>
                  </a:lnTo>
                  <a:lnTo>
                    <a:pt x="54162" y="6957"/>
                  </a:lnTo>
                  <a:lnTo>
                    <a:pt x="25973" y="25939"/>
                  </a:lnTo>
                  <a:lnTo>
                    <a:pt x="6968" y="54113"/>
                  </a:lnTo>
                  <a:lnTo>
                    <a:pt x="0" y="88646"/>
                  </a:lnTo>
                  <a:lnTo>
                    <a:pt x="0" y="386334"/>
                  </a:lnTo>
                  <a:lnTo>
                    <a:pt x="6968" y="420866"/>
                  </a:lnTo>
                  <a:lnTo>
                    <a:pt x="25973" y="449040"/>
                  </a:lnTo>
                  <a:lnTo>
                    <a:pt x="54162" y="468022"/>
                  </a:lnTo>
                  <a:lnTo>
                    <a:pt x="88684" y="474980"/>
                  </a:lnTo>
                  <a:lnTo>
                    <a:pt x="386372" y="474980"/>
                  </a:lnTo>
                  <a:lnTo>
                    <a:pt x="420888" y="468022"/>
                  </a:lnTo>
                  <a:lnTo>
                    <a:pt x="449078" y="449040"/>
                  </a:lnTo>
                  <a:lnTo>
                    <a:pt x="468085" y="420866"/>
                  </a:lnTo>
                  <a:lnTo>
                    <a:pt x="475056" y="386334"/>
                  </a:lnTo>
                  <a:lnTo>
                    <a:pt x="475056" y="88646"/>
                  </a:lnTo>
                  <a:lnTo>
                    <a:pt x="468085" y="54113"/>
                  </a:lnTo>
                  <a:lnTo>
                    <a:pt x="449078" y="25939"/>
                  </a:lnTo>
                  <a:lnTo>
                    <a:pt x="420888" y="6957"/>
                  </a:lnTo>
                  <a:lnTo>
                    <a:pt x="38637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9025" y="4946142"/>
              <a:ext cx="475615" cy="474980"/>
            </a:xfrm>
            <a:custGeom>
              <a:avLst/>
              <a:gdLst/>
              <a:ahLst/>
              <a:cxnLst/>
              <a:rect l="l" t="t" r="r" b="b"/>
              <a:pathLst>
                <a:path w="475615" h="474979">
                  <a:moveTo>
                    <a:pt x="0" y="88646"/>
                  </a:moveTo>
                  <a:lnTo>
                    <a:pt x="6968" y="54113"/>
                  </a:lnTo>
                  <a:lnTo>
                    <a:pt x="25973" y="25939"/>
                  </a:lnTo>
                  <a:lnTo>
                    <a:pt x="54162" y="6957"/>
                  </a:lnTo>
                  <a:lnTo>
                    <a:pt x="88684" y="0"/>
                  </a:lnTo>
                  <a:lnTo>
                    <a:pt x="386372" y="0"/>
                  </a:lnTo>
                  <a:lnTo>
                    <a:pt x="420888" y="6957"/>
                  </a:lnTo>
                  <a:lnTo>
                    <a:pt x="449078" y="25939"/>
                  </a:lnTo>
                  <a:lnTo>
                    <a:pt x="468085" y="54113"/>
                  </a:lnTo>
                  <a:lnTo>
                    <a:pt x="475056" y="88646"/>
                  </a:lnTo>
                  <a:lnTo>
                    <a:pt x="475056" y="386334"/>
                  </a:lnTo>
                  <a:lnTo>
                    <a:pt x="468085" y="420866"/>
                  </a:lnTo>
                  <a:lnTo>
                    <a:pt x="449078" y="449040"/>
                  </a:lnTo>
                  <a:lnTo>
                    <a:pt x="420888" y="468022"/>
                  </a:lnTo>
                  <a:lnTo>
                    <a:pt x="386372" y="474980"/>
                  </a:lnTo>
                  <a:lnTo>
                    <a:pt x="88684" y="474980"/>
                  </a:lnTo>
                  <a:lnTo>
                    <a:pt x="54162" y="468022"/>
                  </a:lnTo>
                  <a:lnTo>
                    <a:pt x="25973" y="449040"/>
                  </a:lnTo>
                  <a:lnTo>
                    <a:pt x="6968" y="420866"/>
                  </a:lnTo>
                  <a:lnTo>
                    <a:pt x="0" y="386334"/>
                  </a:lnTo>
                  <a:lnTo>
                    <a:pt x="0" y="88646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76096" y="4900371"/>
            <a:ext cx="200025" cy="399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50" spc="-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3</a:t>
            </a:r>
            <a:endParaRPr sz="2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19680" y="4895850"/>
            <a:ext cx="5976620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Performance</a:t>
            </a:r>
            <a:endParaRPr sz="20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16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Monitored</a:t>
            </a:r>
            <a:r>
              <a:rPr sz="1650" spc="-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bandwidth</a:t>
            </a:r>
            <a:r>
              <a:rPr sz="165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use</a:t>
            </a:r>
            <a:r>
              <a:rPr sz="165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65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latency</a:t>
            </a:r>
            <a:r>
              <a:rPr sz="165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for</a:t>
            </a:r>
            <a:r>
              <a:rPr sz="1650" spc="1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optimal</a:t>
            </a:r>
            <a:r>
              <a:rPr sz="165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9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service.</a:t>
            </a:r>
            <a:endParaRPr sz="1650">
              <a:latin typeface="Cambria" panose="02040503050406030204"/>
              <a:cs typeface="Cambria" panose="02040503050406030204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35215" y="6369811"/>
            <a:ext cx="1089660" cy="483234"/>
            <a:chOff x="735215" y="6369811"/>
            <a:chExt cx="1089660" cy="483234"/>
          </a:xfrm>
        </p:grpSpPr>
        <p:sp>
          <p:nvSpPr>
            <p:cNvPr id="23" name="object 23"/>
            <p:cNvSpPr/>
            <p:nvPr/>
          </p:nvSpPr>
          <p:spPr>
            <a:xfrm>
              <a:off x="1191221" y="6599808"/>
              <a:ext cx="633730" cy="22860"/>
            </a:xfrm>
            <a:custGeom>
              <a:avLst/>
              <a:gdLst/>
              <a:ahLst/>
              <a:cxnLst/>
              <a:rect l="l" t="t" r="r" b="b"/>
              <a:pathLst>
                <a:path w="633730" h="22859">
                  <a:moveTo>
                    <a:pt x="628307" y="0"/>
                  </a:moveTo>
                  <a:lnTo>
                    <a:pt x="5118" y="0"/>
                  </a:lnTo>
                  <a:lnTo>
                    <a:pt x="0" y="5080"/>
                  </a:lnTo>
                  <a:lnTo>
                    <a:pt x="0" y="11430"/>
                  </a:lnTo>
                  <a:lnTo>
                    <a:pt x="0" y="17653"/>
                  </a:lnTo>
                  <a:lnTo>
                    <a:pt x="5118" y="22860"/>
                  </a:lnTo>
                  <a:lnTo>
                    <a:pt x="628307" y="22860"/>
                  </a:lnTo>
                  <a:lnTo>
                    <a:pt x="633387" y="17653"/>
                  </a:lnTo>
                  <a:lnTo>
                    <a:pt x="633387" y="5080"/>
                  </a:lnTo>
                  <a:lnTo>
                    <a:pt x="628307" y="0"/>
                  </a:lnTo>
                  <a:close/>
                </a:path>
              </a:pathLst>
            </a:custGeom>
            <a:solidFill>
              <a:srgbClr val="1849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39025" y="6373621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5">
                  <a:moveTo>
                    <a:pt x="386372" y="0"/>
                  </a:moveTo>
                  <a:lnTo>
                    <a:pt x="88684" y="0"/>
                  </a:lnTo>
                  <a:lnTo>
                    <a:pt x="54162" y="6977"/>
                  </a:lnTo>
                  <a:lnTo>
                    <a:pt x="25973" y="26003"/>
                  </a:lnTo>
                  <a:lnTo>
                    <a:pt x="6968" y="54221"/>
                  </a:lnTo>
                  <a:lnTo>
                    <a:pt x="0" y="88772"/>
                  </a:lnTo>
                  <a:lnTo>
                    <a:pt x="0" y="386460"/>
                  </a:lnTo>
                  <a:lnTo>
                    <a:pt x="6968" y="420939"/>
                  </a:lnTo>
                  <a:lnTo>
                    <a:pt x="25973" y="449119"/>
                  </a:lnTo>
                  <a:lnTo>
                    <a:pt x="54162" y="468131"/>
                  </a:lnTo>
                  <a:lnTo>
                    <a:pt x="88684" y="475106"/>
                  </a:lnTo>
                  <a:lnTo>
                    <a:pt x="386372" y="475106"/>
                  </a:lnTo>
                  <a:lnTo>
                    <a:pt x="420888" y="468131"/>
                  </a:lnTo>
                  <a:lnTo>
                    <a:pt x="449078" y="449119"/>
                  </a:lnTo>
                  <a:lnTo>
                    <a:pt x="468085" y="420939"/>
                  </a:lnTo>
                  <a:lnTo>
                    <a:pt x="475056" y="386460"/>
                  </a:lnTo>
                  <a:lnTo>
                    <a:pt x="475056" y="88772"/>
                  </a:lnTo>
                  <a:lnTo>
                    <a:pt x="468085" y="54221"/>
                  </a:lnTo>
                  <a:lnTo>
                    <a:pt x="449078" y="26003"/>
                  </a:lnTo>
                  <a:lnTo>
                    <a:pt x="420888" y="6977"/>
                  </a:lnTo>
                  <a:lnTo>
                    <a:pt x="38637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39025" y="6373621"/>
              <a:ext cx="475615" cy="475615"/>
            </a:xfrm>
            <a:custGeom>
              <a:avLst/>
              <a:gdLst/>
              <a:ahLst/>
              <a:cxnLst/>
              <a:rect l="l" t="t" r="r" b="b"/>
              <a:pathLst>
                <a:path w="475615" h="475615">
                  <a:moveTo>
                    <a:pt x="0" y="88772"/>
                  </a:moveTo>
                  <a:lnTo>
                    <a:pt x="6968" y="54221"/>
                  </a:lnTo>
                  <a:lnTo>
                    <a:pt x="25973" y="26003"/>
                  </a:lnTo>
                  <a:lnTo>
                    <a:pt x="54162" y="6977"/>
                  </a:lnTo>
                  <a:lnTo>
                    <a:pt x="88684" y="0"/>
                  </a:lnTo>
                  <a:lnTo>
                    <a:pt x="386372" y="0"/>
                  </a:lnTo>
                  <a:lnTo>
                    <a:pt x="420888" y="6977"/>
                  </a:lnTo>
                  <a:lnTo>
                    <a:pt x="449078" y="26003"/>
                  </a:lnTo>
                  <a:lnTo>
                    <a:pt x="468085" y="54221"/>
                  </a:lnTo>
                  <a:lnTo>
                    <a:pt x="475056" y="88772"/>
                  </a:lnTo>
                  <a:lnTo>
                    <a:pt x="475056" y="386460"/>
                  </a:lnTo>
                  <a:lnTo>
                    <a:pt x="468085" y="420939"/>
                  </a:lnTo>
                  <a:lnTo>
                    <a:pt x="449078" y="449119"/>
                  </a:lnTo>
                  <a:lnTo>
                    <a:pt x="420888" y="468131"/>
                  </a:lnTo>
                  <a:lnTo>
                    <a:pt x="386372" y="475106"/>
                  </a:lnTo>
                  <a:lnTo>
                    <a:pt x="88684" y="475106"/>
                  </a:lnTo>
                  <a:lnTo>
                    <a:pt x="54162" y="468131"/>
                  </a:lnTo>
                  <a:lnTo>
                    <a:pt x="25973" y="449119"/>
                  </a:lnTo>
                  <a:lnTo>
                    <a:pt x="6968" y="420939"/>
                  </a:lnTo>
                  <a:lnTo>
                    <a:pt x="0" y="386460"/>
                  </a:lnTo>
                  <a:lnTo>
                    <a:pt x="0" y="88772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63904" y="6328664"/>
            <a:ext cx="22606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4</a:t>
            </a:r>
            <a:endParaRPr sz="24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019680" y="6323457"/>
            <a:ext cx="5511800" cy="794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User</a:t>
            </a:r>
            <a:r>
              <a:rPr sz="205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0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Feedback</a:t>
            </a:r>
            <a:endParaRPr sz="2050">
              <a:latin typeface="Cambria" panose="02040503050406030204"/>
              <a:cs typeface="Cambria" panose="02040503050406030204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16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Collected</a:t>
            </a:r>
            <a:r>
              <a:rPr sz="1650" spc="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guest</a:t>
            </a:r>
            <a:r>
              <a:rPr sz="165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650" spc="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staff</a:t>
            </a:r>
            <a:r>
              <a:rPr sz="165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input</a:t>
            </a:r>
            <a:r>
              <a:rPr sz="165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on</a:t>
            </a:r>
            <a:r>
              <a:rPr sz="1650" spc="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114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network</a:t>
            </a:r>
            <a:r>
              <a:rPr sz="1650" spc="1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650" spc="8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reliability.</a:t>
            </a:r>
            <a:endParaRPr sz="16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65" dirty="0"/>
              <a:t>Conclusion</a:t>
            </a:r>
            <a:r>
              <a:rPr spc="85" dirty="0"/>
              <a:t> </a:t>
            </a:r>
            <a:r>
              <a:rPr spc="385" dirty="0"/>
              <a:t>and</a:t>
            </a:r>
            <a:r>
              <a:rPr spc="90" dirty="0"/>
              <a:t> </a:t>
            </a:r>
            <a:r>
              <a:rPr spc="325" dirty="0"/>
              <a:t>Future</a:t>
            </a:r>
            <a:r>
              <a:rPr spc="100" dirty="0"/>
              <a:t> </a:t>
            </a:r>
            <a:r>
              <a:rPr spc="395" dirty="0"/>
              <a:t>Improvements</a:t>
            </a:r>
            <a:endParaRPr spc="395" dirty="0"/>
          </a:p>
        </p:txBody>
      </p:sp>
      <p:sp>
        <p:nvSpPr>
          <p:cNvPr id="3" name="object 3"/>
          <p:cNvSpPr txBox="1"/>
          <p:nvPr/>
        </p:nvSpPr>
        <p:spPr>
          <a:xfrm>
            <a:off x="851103" y="3543427"/>
            <a:ext cx="5796280" cy="1413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15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Summary</a:t>
            </a:r>
            <a:endParaRPr sz="2400">
              <a:latin typeface="Cambria" panose="02040503050406030204"/>
              <a:cs typeface="Cambria" panose="02040503050406030204"/>
            </a:endParaRPr>
          </a:p>
          <a:p>
            <a:pPr marL="12700" marR="5080">
              <a:lnSpc>
                <a:spcPct val="136000"/>
              </a:lnSpc>
              <a:spcBef>
                <a:spcPts val="1855"/>
              </a:spcBef>
            </a:pPr>
            <a:r>
              <a:rPr sz="19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The</a:t>
            </a:r>
            <a:r>
              <a:rPr sz="190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network</a:t>
            </a:r>
            <a:r>
              <a:rPr sz="190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meets</a:t>
            </a:r>
            <a:r>
              <a:rPr sz="190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all</a:t>
            </a:r>
            <a:r>
              <a:rPr sz="190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goals:</a:t>
            </a:r>
            <a:r>
              <a:rPr sz="1900" spc="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secure,</a:t>
            </a:r>
            <a:r>
              <a:rPr sz="190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segmented, </a:t>
            </a:r>
            <a:r>
              <a:rPr sz="1900" spc="9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reliable.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1871" y="3543427"/>
            <a:ext cx="1927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55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Future</a:t>
            </a:r>
            <a:r>
              <a:rPr sz="2400" spc="65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2400" spc="175" dirty="0">
                <a:solidFill>
                  <a:srgbClr val="F5EFEF"/>
                </a:solidFill>
                <a:latin typeface="Cambria" panose="02040503050406030204"/>
                <a:cs typeface="Cambria" panose="02040503050406030204"/>
              </a:rPr>
              <a:t>Plans</a:t>
            </a:r>
            <a:endParaRPr sz="24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1871" y="4249039"/>
            <a:ext cx="5022215" cy="1671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har char="•"/>
              <a:tabLst>
                <a:tab pos="354965" algn="l"/>
              </a:tabLst>
            </a:pPr>
            <a:r>
              <a:rPr sz="1900" spc="1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Implement</a:t>
            </a:r>
            <a:r>
              <a:rPr sz="1900" spc="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Intrusion</a:t>
            </a:r>
            <a:r>
              <a:rPr sz="190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Detection</a:t>
            </a:r>
            <a:r>
              <a:rPr sz="1900" spc="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System</a:t>
            </a:r>
            <a:endParaRPr sz="1900">
              <a:latin typeface="Cambria" panose="02040503050406030204"/>
              <a:cs typeface="Cambria" panose="02040503050406030204"/>
            </a:endParaRPr>
          </a:p>
          <a:p>
            <a:pPr marL="355600" marR="387350" indent="-342900">
              <a:lnSpc>
                <a:spcPct val="136000"/>
              </a:lnSpc>
              <a:spcBef>
                <a:spcPts val="690"/>
              </a:spcBef>
              <a:buChar char="•"/>
              <a:tabLst>
                <a:tab pos="355600" algn="l"/>
              </a:tabLst>
            </a:pPr>
            <a:r>
              <a:rPr sz="19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Add</a:t>
            </a:r>
            <a:r>
              <a:rPr sz="1900" spc="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Security</a:t>
            </a:r>
            <a:r>
              <a:rPr sz="190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Information</a:t>
            </a:r>
            <a:r>
              <a:rPr sz="1900" spc="6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900" spc="4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Event </a:t>
            </a:r>
            <a:r>
              <a:rPr sz="1900" spc="1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Management</a:t>
            </a:r>
            <a:endParaRPr sz="1900">
              <a:latin typeface="Cambria" panose="02040503050406030204"/>
              <a:cs typeface="Cambria" panose="02040503050406030204"/>
            </a:endParaRPr>
          </a:p>
          <a:p>
            <a:pPr marL="354965" indent="-342265">
              <a:lnSpc>
                <a:spcPct val="100000"/>
              </a:lnSpc>
              <a:spcBef>
                <a:spcPts val="1525"/>
              </a:spcBef>
              <a:buChar char="•"/>
              <a:tabLst>
                <a:tab pos="354965" algn="l"/>
              </a:tabLst>
            </a:pPr>
            <a:r>
              <a:rPr sz="1900" spc="14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Continuous</a:t>
            </a:r>
            <a:r>
              <a:rPr sz="190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audits</a:t>
            </a:r>
            <a:r>
              <a:rPr sz="1900" spc="5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and</a:t>
            </a:r>
            <a:r>
              <a:rPr sz="1900" spc="50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network</a:t>
            </a:r>
            <a:r>
              <a:rPr sz="1900" spc="6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00" spc="135" dirty="0">
                <a:solidFill>
                  <a:srgbClr val="E1E6E9"/>
                </a:solidFill>
                <a:latin typeface="Cambria" panose="02040503050406030204"/>
                <a:cs typeface="Cambria" panose="02040503050406030204"/>
              </a:rPr>
              <a:t>scaling</a:t>
            </a:r>
            <a:endParaRPr sz="1900">
              <a:latin typeface="Cambria" panose="02040503050406030204"/>
              <a:cs typeface="Cambria" panose="02040503050406030204"/>
            </a:endParaRPr>
          </a:p>
        </p:txBody>
      </p:sp>
      <p:pic>
        <p:nvPicPr>
          <p:cNvPr id="6" name="object 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2192000" y="4977638"/>
            <a:ext cx="2438400" cy="32519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2175</Words>
  <Application>WPS Presentation</Application>
  <PresentationFormat>On-screen Show (4:3)</PresentationFormat>
  <Paragraphs>115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Cambria</vt:lpstr>
      <vt:lpstr>Microsoft YaHei</vt:lpstr>
      <vt:lpstr>Arial Unicode MS</vt:lpstr>
      <vt:lpstr>Calibri</vt:lpstr>
      <vt:lpstr>Office Theme</vt:lpstr>
      <vt:lpstr>PowerPoint 演示文稿</vt:lpstr>
      <vt:lpstr>Network Design Goals</vt:lpstr>
      <vt:lpstr>Network Architecture and Implementation</vt:lpstr>
      <vt:lpstr>Security Measures</vt:lpstr>
      <vt:lpstr>Threat Identification</vt:lpstr>
      <vt:lpstr>Solutions Implemented</vt:lpstr>
      <vt:lpstr>Testing and Validation</vt:lpstr>
      <vt:lpstr>Conclusion and Future Improvements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Rushikesh Sable</cp:lastModifiedBy>
  <cp:revision>1</cp:revision>
  <dcterms:created xsi:type="dcterms:W3CDTF">2025-12-07T06:14:37Z</dcterms:created>
  <dcterms:modified xsi:type="dcterms:W3CDTF">2025-12-07T06:14:37Z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2025-04-27T05:30:00Z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2025-04-27T05:30:00Z</vt:filetime>
  </property>
  <property fmtid="{D5CDD505-2E9C-101B-9397-08002B2CF9AE}" pid="5" name="Producer">
    <vt:lpwstr>Microsoft® PowerPoint® 2021</vt:lpwstr>
  </property>
  <property fmtid="{D5CDD505-2E9C-101B-9397-08002B2CF9AE}" pid="6" name="ICV">
    <vt:lpwstr>D02AC88B7FB04D43919BD4CB985209AF_13</vt:lpwstr>
  </property>
  <property fmtid="{D5CDD505-2E9C-101B-9397-08002B2CF9AE}" pid="7" name="KSOProductBuildVer">
    <vt:lpwstr>2057-12.2.0.23149</vt:lpwstr>
  </property>
</Properties>
</file>